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20723ba194c48" /><Relationship Type="http://schemas.openxmlformats.org/officeDocument/2006/relationships/extended-properties" Target="/docProps/app.xml" Id="Reea37d06419f4e5f" /><Relationship Type="http://schemas.openxmlformats.org/officeDocument/2006/relationships/officeDocument" Target="/ppt/presentation.xml" Id="R76f16b88f7dd43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a5d2f3a2c449b9"/>
  </p:sldMasterIdLst>
  <p:notesMasterIdLst>
    <p:notesMasterId xmlns:r="http://schemas.openxmlformats.org/officeDocument/2006/relationships" r:id="R939fe26f879e4ceb"/>
  </p:notesMasterIdLst>
  <p:sldIdLst>
    <p:sldId xmlns:r="http://schemas.openxmlformats.org/officeDocument/2006/relationships" id="256" r:id="Rda3a7e9c60f94063"/>
    <p:sldId xmlns:r="http://schemas.openxmlformats.org/officeDocument/2006/relationships" id="257" r:id="R0eaa1bac052d4f53"/>
    <p:sldId xmlns:r="http://schemas.openxmlformats.org/officeDocument/2006/relationships" id="258" r:id="Rc546bd5dbd974481"/>
    <p:sldId xmlns:r="http://schemas.openxmlformats.org/officeDocument/2006/relationships" id="259" r:id="R9a650635f5de4057"/>
    <p:sldId xmlns:r="http://schemas.openxmlformats.org/officeDocument/2006/relationships" id="260" r:id="Rcb32e3e0c6a34326"/>
    <p:sldId xmlns:r="http://schemas.openxmlformats.org/officeDocument/2006/relationships" id="261" r:id="R19a72af804da45f7"/>
    <p:sldId xmlns:r="http://schemas.openxmlformats.org/officeDocument/2006/relationships" id="262" r:id="R2b8102f81e5642d5"/>
    <p:sldId xmlns:r="http://schemas.openxmlformats.org/officeDocument/2006/relationships" id="263" r:id="R3e428e02a66749d7"/>
    <p:sldId xmlns:r="http://schemas.openxmlformats.org/officeDocument/2006/relationships" id="264" r:id="R456c243edeed4f07"/>
    <p:sldId xmlns:r="http://schemas.openxmlformats.org/officeDocument/2006/relationships" id="265" r:id="Ra3acf3d9a12f491a"/>
    <p:sldId xmlns:r="http://schemas.openxmlformats.org/officeDocument/2006/relationships" id="266" r:id="R2fac2553f27446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fde0fc01604aab" /><Relationship Type="http://schemas.openxmlformats.org/officeDocument/2006/relationships/slideMaster" Target="/ppt/slideMasters/slideMaster1.xml" Id="R9ca5d2f3a2c449b9" /><Relationship Type="http://schemas.openxmlformats.org/officeDocument/2006/relationships/notesMaster" Target="/ppt/notesMasters/notesMaster1.xml" Id="R939fe26f879e4ceb" /><Relationship Type="http://schemas.openxmlformats.org/officeDocument/2006/relationships/presProps" Target="/ppt/presProps.xml" Id="Rcb74ea5898ca44b5" /><Relationship Type="http://schemas.openxmlformats.org/officeDocument/2006/relationships/tableStyles" Target="/ppt/tableStyles.xml" Id="Rf2a8eb1afae546d8" /><Relationship Type="http://schemas.openxmlformats.org/officeDocument/2006/relationships/slide" Target="/ppt/slides/slide1.xml" Id="Rda3a7e9c60f94063" /><Relationship Type="http://schemas.openxmlformats.org/officeDocument/2006/relationships/slide" Target="/ppt/slides/slide2.xml" Id="R0eaa1bac052d4f53" /><Relationship Type="http://schemas.openxmlformats.org/officeDocument/2006/relationships/slide" Target="/ppt/slides/slide3.xml" Id="Rc546bd5dbd974481" /><Relationship Type="http://schemas.openxmlformats.org/officeDocument/2006/relationships/slide" Target="/ppt/slides/slide4.xml" Id="R9a650635f5de4057" /><Relationship Type="http://schemas.openxmlformats.org/officeDocument/2006/relationships/slide" Target="/ppt/slides/slide5.xml" Id="Rcb32e3e0c6a34326" /><Relationship Type="http://schemas.openxmlformats.org/officeDocument/2006/relationships/slide" Target="/ppt/slides/slide6.xml" Id="R19a72af804da45f7" /><Relationship Type="http://schemas.openxmlformats.org/officeDocument/2006/relationships/slide" Target="/ppt/slides/slide7.xml" Id="R2b8102f81e5642d5" /><Relationship Type="http://schemas.openxmlformats.org/officeDocument/2006/relationships/slide" Target="/ppt/slides/slide8.xml" Id="R3e428e02a66749d7" /><Relationship Type="http://schemas.openxmlformats.org/officeDocument/2006/relationships/slide" Target="/ppt/slides/slide9.xml" Id="R456c243edeed4f07" /><Relationship Type="http://schemas.openxmlformats.org/officeDocument/2006/relationships/slide" Target="/ppt/slides/slide10.xml" Id="Ra3acf3d9a12f491a" /><Relationship Type="http://schemas.openxmlformats.org/officeDocument/2006/relationships/slide" Target="/ppt/slides/slide11.xml" Id="R2fac2553f27446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8132f00fab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2983e7ce814a16" /><Relationship Type="http://schemas.openxmlformats.org/officeDocument/2006/relationships/notesMaster" Target="/ppt/notesMasters/notesMaster1.xml" Id="Rdc384062641c41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8bae32603483b" /><Relationship Type="http://schemas.openxmlformats.org/officeDocument/2006/relationships/notesMaster" Target="/ppt/notesMasters/notesMaster1.xml" Id="Reebc0614e2f741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a101c244f44c71" /><Relationship Type="http://schemas.openxmlformats.org/officeDocument/2006/relationships/notesMaster" Target="/ppt/notesMasters/notesMaster1.xml" Id="Rb4c8f87837474b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e0263a8bb742b7" /><Relationship Type="http://schemas.openxmlformats.org/officeDocument/2006/relationships/notesMaster" Target="/ppt/notesMasters/notesMaster1.xml" Id="Rde3037411b634e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23860d43e5448a" /><Relationship Type="http://schemas.openxmlformats.org/officeDocument/2006/relationships/notesMaster" Target="/ppt/notesMasters/notesMaster1.xml" Id="R1e7694ad4ac942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4443f22b314097" /><Relationship Type="http://schemas.openxmlformats.org/officeDocument/2006/relationships/notesMaster" Target="/ppt/notesMasters/notesMaster1.xml" Id="R398fdee97e924e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3e719e013e47f5" /><Relationship Type="http://schemas.openxmlformats.org/officeDocument/2006/relationships/notesMaster" Target="/ppt/notesMasters/notesMaster1.xml" Id="R81c07567675c4c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366d8cd54a4007" /><Relationship Type="http://schemas.openxmlformats.org/officeDocument/2006/relationships/notesMaster" Target="/ppt/notesMasters/notesMaster1.xml" Id="R6316789c9ecd49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6c4fc4e724e5b" /><Relationship Type="http://schemas.openxmlformats.org/officeDocument/2006/relationships/notesMaster" Target="/ppt/notesMasters/notesMaster1.xml" Id="R961ab009574748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71715ca6094f75" /><Relationship Type="http://schemas.openxmlformats.org/officeDocument/2006/relationships/notesMaster" Target="/ppt/notesMasters/notesMaster1.xml" Id="Redd7302c516a46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8add3955cb4eae" /><Relationship Type="http://schemas.openxmlformats.org/officeDocument/2006/relationships/notesMaster" Target="/ppt/notesMasters/notesMaster1.xml" Id="R819d090dd75045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資料は、派生開発でAIを使うときの実務的な協業方法を説明します。中心メッセージは、AIが判断材料を作り、人間が意味・承認・リスクを判断することです。AIの出力をそのまま完了扱いにしないことを、以降の全ページで確認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にすることを4つに絞ります。現状、目的、証拠、制約を渡します。資料が途中まででも構いません。存在しない情報は推測せず「未確認」と書きます。AIには、不足、想定差、確認事項、次の作業を示すよう依頼します。ここからAIとの対話が始まり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頼文は最初から完璧な帳票にする必要はありません。Skill名、現状、目的、制約、証拠、依頼内容の6行で始めます。AIには結論を決めさせず、不足情報、仕様・挙動・要求の差、人間への質問、次の作業と成果物を返させます。人間は質問に答え、変更の意味、期待値、作業範囲を承認します。$brownfield-workflowは社内Skill名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XDDPはeXtreme Derivative Development Processの略称です。この資料では、変更理由、変更内容、変更箇所、変更方法の4つの問いを、AIと人間が情報を揃えるための軸として使います。想定差とは、要求・仕様・現行挙動・期待結果の間の差異、不足、矛盾、未定義事項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https://www.ipa.go.jp/archive/files/000055011.pdf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6段階が基本ループです。人間は現状と目的を渡し、AIは比較して想定差を出します。AIが質問し、人間が期待値や守る条件を回答すると、AIは差分整理表やテストへの引き継ぎを更新します。最後に、人間が承認、保留、差戻しを判断してから次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-042は架空の説明例です。AIは現行仕様とUI挙動の差、APIを守る制約、未知コードの未定義、テスト期待値の不足を検出します。人間が未知コードの表示、APIを変更しないこと、UIだけを変更すること、承認者を回答します。その回答を受けて、AIは差分表、守る条件、テストケース、証拠の取得方法、承認条件を更新します。人間が承認した後で次の作業に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定義では、版、出典、担当者、承認状況、現行挙動の証拠、目的、受入条件、既存設計・テストをAIに渡します。AIは対象、現行と望ましい挙動、不足・矛盾、根拠、下流影響を整理します。人間は、そのまま使うか、補正するか、保留するかを決めます。担当者、承認、期待値、重大な矛盾のいずれかが不明なら、設計へ進め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計では、現行仕様、現行挙動、新規要求、設計判断を並べて差分を確認します。AIは差分、不変条件、影響候補、期待値不足、テストケースを作れるかを確認します。人間は変更の意味、守る条件、影響範囲を判断し、設計完了、補正、保留を決めます。テストの入力、期待値、証拠、合否基準が作れない状態では設計を完了し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テストは、人間が対象、範囲、入力、期待結果、合否基準、証拠方法、環境と権限を事前承認することが前提です。AIは許可・接続された環境で、承認済みケースの実行支援、UI操作、画面やログの証拠取得、期待値との比較、項目別評価、差異分類、再テスト整理を行います。差異の意味、評価基準、未実行項目、残余リスクの受入は人間が判断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の出力を受け取ったら、根拠、定義、整合性、リスクの順で確認します。根拠が対象や結果につながっているか、期待値や担当者が定義されているか、現行仕様・挙動・要求・設計がつながっているか、最後に不明点や残余リスクを受け入れられるかを確認します。判断できない項目は先へ進め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日からは、現状の情報、目的、変更したいこと、途中までの整理、利用できる証拠をAIに渡します。AIに不足や想定差を出させ、質問に答えながら成果物を具体化します。AIには整理、比較、検出、質問、作業案、承認済み作業の支援を任せ、人間は目的、期待値、意味、承認、優先順位、リスク判断を手放しません。締めのメッセージは、AIに答えを決めさせるのではなく、対話によって人間が判断できる状態を作ること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f8f0aaada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e24843e944f40" /><Relationship Type="http://schemas.openxmlformats.org/officeDocument/2006/relationships/slideLayout" Target="/ppt/slideLayouts/slideLayout1.xml" Id="R3eb8f894786f42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8f894786f42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c8941854048d4" /><Relationship Type="http://schemas.openxmlformats.org/officeDocument/2006/relationships/notesSlide" Target="/ppt/notesSlides/notesSlide1.xml" Id="R360ca7b6a28d46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6f0bda8f14393" /><Relationship Type="http://schemas.openxmlformats.org/officeDocument/2006/relationships/notesSlide" Target="/ppt/notesSlides/notesSlide2.xml" Id="R3a479fdcaeb64c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a6107ba054031" /><Relationship Type="http://schemas.openxmlformats.org/officeDocument/2006/relationships/notesSlide" Target="/ppt/notesSlides/notesSlide3.xml" Id="R1d59f421579f41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fb7119430452a" /><Relationship Type="http://schemas.openxmlformats.org/officeDocument/2006/relationships/notesSlide" Target="/ppt/notesSlides/notesSlide4.xml" Id="R4ea0d86cf3c94a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7c9c2c7744e10" /><Relationship Type="http://schemas.openxmlformats.org/officeDocument/2006/relationships/notesSlide" Target="/ppt/notesSlides/notesSlide5.xml" Id="R66b8fc0bc96f41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5f5afdb574dff" /><Relationship Type="http://schemas.openxmlformats.org/officeDocument/2006/relationships/notesSlide" Target="/ppt/notesSlides/notesSlide6.xml" Id="R364540bccc5d47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aab11d09b480b" /><Relationship Type="http://schemas.openxmlformats.org/officeDocument/2006/relationships/notesSlide" Target="/ppt/notesSlides/notesSlide7.xml" Id="Rc7564114aab441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f13eb473f430f" /><Relationship Type="http://schemas.openxmlformats.org/officeDocument/2006/relationships/notesSlide" Target="/ppt/notesSlides/notesSlide8.xml" Id="Rbad8973ae28a4e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7db8513a24c70" /><Relationship Type="http://schemas.openxmlformats.org/officeDocument/2006/relationships/notesSlide" Target="/ppt/notesSlides/notesSlide9.xml" Id="Rf17f730bc96445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68cc27c8749ae" /><Relationship Type="http://schemas.openxmlformats.org/officeDocument/2006/relationships/notesSlide" Target="/ppt/notesSlides/notesSlide10.xml" Id="Re57c9e3059144d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f24cc1c494817" /><Relationship Type="http://schemas.openxmlformats.org/officeDocument/2006/relationships/notesSlide" Target="/ppt/notesSlides/notesSlide11.xml" Id="R5ab8c6d3be3145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bar">
            <a:extLst xmlns:a="http://schemas.openxmlformats.org/drawingml/2006/main">
              <a:ext uri="{FF2B5EF4-FFF2-40B4-BE49-F238E27FC236}">
                <a16:creationId xmlns:a16="http://schemas.microsoft.com/office/drawing/2014/main" id="{01431911-F22E-46C9-90FD-09E45F89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37944A1-54EC-42C0-9F5E-416BAC7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派生開発 × 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AFADA4-3BDB-4040-B5B6-0441E43C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350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AIとやり取りしながら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派生開発を進める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F5F83E95-15AE-4667-8A62-931F2E0A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872"/>
                </a:solidFill>
              </a:defRPr>
            </a:pPr>
            <a:r>
              <a:rPr sz="1875" b="0">
                <a:solidFill>
                  <a:srgbClr val="606872"/>
                </a:solidFill>
              </a:rPr>
              <a:t>派生開発におけるAIと人間の役割分担</a:t>
            </a:r>
          </a:p>
        </p:txBody>
      </p:sp>
      <p:sp>
        <p:nvSpPr>
          <p:cNvPr id="5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E86266E4-AACE-43DE-85E9-86F4C889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AIの出力は完了ではなく、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人間が判断するための材料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DC368E8-0A73-4B57-A7EA-05FD4868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9AB5817-7CAC-4B4A-BFE8-D1BDB105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2C4DEF1E-6863-455D-BADB-A6BC5282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250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CD1099C7-64B2-46D1-AF1B-7695EA5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最初にすること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E6FC149-7476-4384-BD44-E6C2EE68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現状・目的・証拠・制約をAIに渡す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F467A207-8674-4914-9407-ED802FC6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途中まで整理した資料でも構いません。AIが不足情報と次の作業を示します。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3BE059B-1541-4A3C-8434-78E923DF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first-0">
            <a:extLst xmlns:a="http://schemas.openxmlformats.org/drawingml/2006/main">
              <a:ext uri="{FF2B5EF4-FFF2-40B4-BE49-F238E27FC236}">
                <a16:creationId xmlns:a16="http://schemas.microsoft.com/office/drawing/2014/main" id="{1F1E7418-94EF-40A0-A408-A1D576A7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33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first-h-0">
            <a:extLst xmlns:a="http://schemas.openxmlformats.org/drawingml/2006/main">
              <a:ext uri="{FF2B5EF4-FFF2-40B4-BE49-F238E27FC236}">
                <a16:creationId xmlns:a16="http://schemas.microsoft.com/office/drawing/2014/main" id="{FFB1FF4E-86FC-4AEF-9561-80D74CF8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  現状</a:t>
            </a:r>
          </a:p>
        </p:txBody>
      </p:sp>
      <p:sp>
        <p:nvSpPr>
          <p:cNvPr id="7" name="first-b-0">
            <a:extLst xmlns:a="http://schemas.openxmlformats.org/drawingml/2006/main">
              <a:ext uri="{FF2B5EF4-FFF2-40B4-BE49-F238E27FC236}">
                <a16:creationId xmlns:a16="http://schemas.microsoft.com/office/drawing/2014/main" id="{631D049F-722B-439B-BDBF-A88619F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今どう動くか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画面・API・ログ</a:t>
            </a:r>
          </a:p>
        </p:txBody>
      </p:sp>
      <p:sp>
        <p:nvSpPr>
          <p:cNvPr id="8" name="first-1">
            <a:extLst xmlns:a="http://schemas.openxmlformats.org/drawingml/2006/main">
              <a:ext uri="{FF2B5EF4-FFF2-40B4-BE49-F238E27FC236}">
                <a16:creationId xmlns:a16="http://schemas.microsoft.com/office/drawing/2014/main" id="{CC9D9411-9F53-406B-9D38-A708962A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533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9" name="first-h-1">
            <a:extLst xmlns:a="http://schemas.openxmlformats.org/drawingml/2006/main">
              <a:ext uri="{FF2B5EF4-FFF2-40B4-BE49-F238E27FC236}">
                <a16:creationId xmlns:a16="http://schemas.microsoft.com/office/drawing/2014/main" id="{365F14C3-5815-463A-A292-C75FB0B3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B00"/>
                </a:solidFill>
              </a:defRPr>
            </a:pPr>
            <a:r>
              <a:rPr sz="1650" b="1">
                <a:solidFill>
                  <a:srgbClr val="D99B00"/>
                </a:solidFill>
              </a:rPr>
              <a:t>2  目的</a:t>
            </a:r>
          </a:p>
        </p:txBody>
      </p:sp>
      <p:sp>
        <p:nvSpPr>
          <p:cNvPr id="10" name="first-b-1">
            <a:extLst xmlns:a="http://schemas.openxmlformats.org/drawingml/2006/main">
              <a:ext uri="{FF2B5EF4-FFF2-40B4-BE49-F238E27FC236}">
                <a16:creationId xmlns:a16="http://schemas.microsoft.com/office/drawing/2014/main" id="{577986C4-9A5F-4CEE-B42F-C5B1FCE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何を変えたいか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要求・変更理由</a:t>
            </a:r>
          </a:p>
        </p:txBody>
      </p:sp>
      <p:sp>
        <p:nvSpPr>
          <p:cNvPr id="11" name="first-2">
            <a:extLst xmlns:a="http://schemas.openxmlformats.org/drawingml/2006/main">
              <a:ext uri="{FF2B5EF4-FFF2-40B4-BE49-F238E27FC236}">
                <a16:creationId xmlns:a16="http://schemas.microsoft.com/office/drawing/2014/main" id="{744BA048-FC6B-4C04-9951-60885D8B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33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first-h-2">
            <a:extLst xmlns:a="http://schemas.openxmlformats.org/drawingml/2006/main">
              <a:ext uri="{FF2B5EF4-FFF2-40B4-BE49-F238E27FC236}">
                <a16:creationId xmlns:a16="http://schemas.microsoft.com/office/drawing/2014/main" id="{8975FF66-3DDB-4516-A05B-9FDC7DA1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  証拠</a:t>
            </a:r>
          </a:p>
        </p:txBody>
      </p:sp>
      <p:sp>
        <p:nvSpPr>
          <p:cNvPr id="13" name="first-b-2">
            <a:extLst xmlns:a="http://schemas.openxmlformats.org/drawingml/2006/main">
              <a:ext uri="{FF2B5EF4-FFF2-40B4-BE49-F238E27FC236}">
                <a16:creationId xmlns:a16="http://schemas.microsoft.com/office/drawing/2014/main" id="{3F2853E9-C4D5-446C-982D-43B9B4D2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仕様書・テスト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画面のハードコピー</a:t>
            </a:r>
          </a:p>
        </p:txBody>
      </p:sp>
      <p:sp>
        <p:nvSpPr>
          <p:cNvPr id="14" name="first-3">
            <a:extLst xmlns:a="http://schemas.openxmlformats.org/drawingml/2006/main">
              <a:ext uri="{FF2B5EF4-FFF2-40B4-BE49-F238E27FC236}">
                <a16:creationId xmlns:a16="http://schemas.microsoft.com/office/drawing/2014/main" id="{9C7CFE30-68A1-4344-B909-E056B2E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533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5" name="first-h-3">
            <a:extLst xmlns:a="http://schemas.openxmlformats.org/drawingml/2006/main">
              <a:ext uri="{FF2B5EF4-FFF2-40B4-BE49-F238E27FC236}">
                <a16:creationId xmlns:a16="http://schemas.microsoft.com/office/drawing/2014/main" id="{4EC78A22-BEF4-403D-A05E-D3FC555F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B00"/>
                </a:solidFill>
              </a:defRPr>
            </a:pPr>
            <a:r>
              <a:rPr sz="1650" b="1">
                <a:solidFill>
                  <a:srgbClr val="D99B00"/>
                </a:solidFill>
              </a:rPr>
              <a:t>4  制約</a:t>
            </a:r>
          </a:p>
        </p:txBody>
      </p:sp>
      <p:sp>
        <p:nvSpPr>
          <p:cNvPr id="16" name="first-b-3">
            <a:extLst xmlns:a="http://schemas.openxmlformats.org/drawingml/2006/main">
              <a:ext uri="{FF2B5EF4-FFF2-40B4-BE49-F238E27FC236}">
                <a16:creationId xmlns:a16="http://schemas.microsoft.com/office/drawing/2014/main" id="{5DC1465D-99A2-4BA3-AF6C-75AD3C95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05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API互換・権限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承認者・期限</a:t>
            </a:r>
          </a:p>
        </p:txBody>
      </p:sp>
      <p:sp>
        <p:nvSpPr>
          <p:cNvPr id="17" name="first-prompt">
            <a:extLst xmlns:a="http://schemas.openxmlformats.org/drawingml/2006/main">
              <a:ext uri="{FF2B5EF4-FFF2-40B4-BE49-F238E27FC236}">
                <a16:creationId xmlns:a16="http://schemas.microsoft.com/office/drawing/2014/main" id="{DEA94C30-30B0-4948-9280-2B761B5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914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first-prompt-text">
            <a:extLst xmlns:a="http://schemas.openxmlformats.org/drawingml/2006/main">
              <a:ext uri="{FF2B5EF4-FFF2-40B4-BE49-F238E27FC236}">
                <a16:creationId xmlns:a16="http://schemas.microsoft.com/office/drawing/2014/main" id="{2E5BFC53-AE26-474A-A835-99945D2B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48300"/>
            <a:ext cx="861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依頼：不足・想定差・確認事項・次の作業を示してください</a:t>
            </a:r>
          </a:p>
        </p:txBody>
      </p:sp>
      <p:sp>
        <p:nvSpPr>
          <p:cNvPr id="19" name="first-bottom">
            <a:extLst xmlns:a="http://schemas.openxmlformats.org/drawingml/2006/main">
              <a:ext uri="{FF2B5EF4-FFF2-40B4-BE49-F238E27FC236}">
                <a16:creationId xmlns:a16="http://schemas.microsoft.com/office/drawing/2014/main" id="{78481030-E498-48B3-AAE7-059CB712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53B45"/>
                </a:solidFill>
              </a:defRPr>
            </a:pPr>
            <a:r>
              <a:rPr sz="1425" b="1">
                <a:solidFill>
                  <a:srgbClr val="C53B45"/>
                </a:solidFill>
              </a:rPr>
              <a:t>無い情報は「未確認」と書く。AIは不明点を埋めず、質問として返す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66B4D4-ADC4-4DF1-A406-8E3B330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4012A37E-214C-4DCD-BF92-41166DB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FE0AD4EB-1CEA-4FA7-85B3-4AC4A98B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266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04111DE5-617C-4E9F-9A56-37CC1568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依頼の出し方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F59E807-B48C-4945-A23C-3C5573C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最初の依頼は、この形で始める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C58C4E64-AB6B-4F15-9C45-225F8363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AIに判断を任せるのではなく、不足・想定差・次の作業を出させます。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87D85A2-2E69-42A4-B77D-82C8F835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prompt-example">
            <a:extLst xmlns:a="http://schemas.openxmlformats.org/drawingml/2006/main">
              <a:ext uri="{FF2B5EF4-FFF2-40B4-BE49-F238E27FC236}">
                <a16:creationId xmlns:a16="http://schemas.microsoft.com/office/drawing/2014/main" id="{B6C4362F-3B8A-4917-88F1-8C9F074F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8102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prompt-example-title">
            <a:extLst xmlns:a="http://schemas.openxmlformats.org/drawingml/2006/main">
              <a:ext uri="{FF2B5EF4-FFF2-40B4-BE49-F238E27FC236}">
                <a16:creationId xmlns:a16="http://schemas.microsoft.com/office/drawing/2014/main" id="{AD5D4C6F-A3AD-457B-82E3-04805B13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CBF4"/>
                </a:solidFill>
              </a:defRPr>
            </a:pPr>
            <a:r>
              <a:rPr sz="1800" b="1">
                <a:solidFill>
                  <a:srgbClr val="6DCBF4"/>
                </a:solidFill>
              </a:rPr>
              <a:t>人間からAIへの依頼</a:t>
            </a:r>
          </a:p>
        </p:txBody>
      </p:sp>
      <p:sp>
        <p:nvSpPr>
          <p:cNvPr id="7" name="prompt-example-body">
            <a:extLst xmlns:a="http://schemas.openxmlformats.org/drawingml/2006/main">
              <a:ext uri="{FF2B5EF4-FFF2-40B4-BE49-F238E27FC236}">
                <a16:creationId xmlns:a16="http://schemas.microsoft.com/office/drawing/2014/main" id="{49C632DB-0A5D-42A0-9BF1-5582AEFA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Skill: $brownfield-workflow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現状：order status UI / API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目的：code 1のラベル変更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制約：下流APIは変更しない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証拠：要求書・画面・既存テスト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依頼：不足・想定差・次の作業を示して</a:t>
            </a:r>
          </a:p>
        </p:txBody>
      </p:sp>
      <p:sp>
        <p:nvSpPr>
          <p:cNvPr id="8" name="prompt-response">
            <a:extLst xmlns:a="http://schemas.openxmlformats.org/drawingml/2006/main">
              <a:ext uri="{FF2B5EF4-FFF2-40B4-BE49-F238E27FC236}">
                <a16:creationId xmlns:a16="http://schemas.microsoft.com/office/drawing/2014/main" id="{E32248CB-7A2F-4C38-B783-721C5D36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44196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prompt-response-title">
            <a:extLst xmlns:a="http://schemas.openxmlformats.org/drawingml/2006/main">
              <a:ext uri="{FF2B5EF4-FFF2-40B4-BE49-F238E27FC236}">
                <a16:creationId xmlns:a16="http://schemas.microsoft.com/office/drawing/2014/main" id="{BEC0CBBE-1F27-40C4-B4FD-E1D7FFE5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AIから返ってくるもの</a:t>
            </a:r>
          </a:p>
        </p:txBody>
      </p:sp>
      <p:sp>
        <p:nvSpPr>
          <p:cNvPr id="10" name="prompt-response-body">
            <a:extLst xmlns:a="http://schemas.openxmlformats.org/drawingml/2006/main">
              <a:ext uri="{FF2B5EF4-FFF2-40B4-BE49-F238E27FC236}">
                <a16:creationId xmlns:a16="http://schemas.microsoft.com/office/drawing/2014/main" id="{FB5F87C4-4DD0-4895-8C76-1A4E5A1E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333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不足している情報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仕様・挙動・要求の差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人間への質問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次の作業と成果物</a:t>
            </a:r>
          </a:p>
        </p:txBody>
      </p:sp>
      <p:sp>
        <p:nvSpPr>
          <p:cNvPr id="11" name="prompt-bottom">
            <a:extLst xmlns:a="http://schemas.openxmlformats.org/drawingml/2006/main">
              <a:ext uri="{FF2B5EF4-FFF2-40B4-BE49-F238E27FC236}">
                <a16:creationId xmlns:a16="http://schemas.microsoft.com/office/drawing/2014/main" id="{4564834D-57ED-4C52-8403-6FE8442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2" name="prompt-bottom-text">
            <a:extLst xmlns:a="http://schemas.openxmlformats.org/drawingml/2006/main">
              <a:ext uri="{FF2B5EF4-FFF2-40B4-BE49-F238E27FC236}">
                <a16:creationId xmlns:a16="http://schemas.microsoft.com/office/drawing/2014/main" id="{DE4FFEBD-399C-4954-9FD7-28A0E3CA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81700"/>
            <a:ext cx="861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9B00"/>
                </a:solidFill>
              </a:defRPr>
            </a:pPr>
            <a:r>
              <a:rPr sz="1425" b="1">
                <a:solidFill>
                  <a:srgbClr val="D99B00"/>
                </a:solidFill>
              </a:rPr>
              <a:t>人間：質問に答える → 変更の意味・期待値・範囲を承認する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AF5A5C6-9FFE-4EC6-A5E8-D8C6D736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E231639E-BED4-4C36-B4DD-5BF0AB03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6BF588E1-55E1-417C-88D5-4B0D0BAB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6675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9F4AA6F4-D10F-4827-8771-4CC02B70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整理の軸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41D80B9-584F-474D-8502-303A879E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派生開発は4つの問いで整理する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D7413CA2-929A-4C69-AF7E-35EE419C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XDDP（eXtreme Derivative Development Process）の考え方を、AIとの確認軸として使います。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8698D3-A67B-4E41-A4B6-A5709D6A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q-0">
            <a:extLst xmlns:a="http://schemas.openxmlformats.org/drawingml/2006/main">
              <a:ext uri="{FF2B5EF4-FFF2-40B4-BE49-F238E27FC236}">
                <a16:creationId xmlns:a16="http://schemas.microsoft.com/office/drawing/2014/main" id="{30F9AD66-012F-4FF5-90CA-7042D96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38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q-en-0">
            <a:extLst xmlns:a="http://schemas.openxmlformats.org/drawingml/2006/main">
              <a:ext uri="{FF2B5EF4-FFF2-40B4-BE49-F238E27FC236}">
                <a16:creationId xmlns:a16="http://schemas.microsoft.com/office/drawing/2014/main" id="{7DA7E8BF-7A80-4162-9382-67E40CF7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Why</a:t>
            </a:r>
          </a:p>
        </p:txBody>
      </p:sp>
      <p:sp>
        <p:nvSpPr>
          <p:cNvPr id="7" name="q-jp-0">
            <a:extLst xmlns:a="http://schemas.openxmlformats.org/drawingml/2006/main">
              <a:ext uri="{FF2B5EF4-FFF2-40B4-BE49-F238E27FC236}">
                <a16:creationId xmlns:a16="http://schemas.microsoft.com/office/drawing/2014/main" id="{B6F6A677-B6A3-45EB-BAB7-3ABC8D6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なぜ変えるのか</a:t>
            </a:r>
          </a:p>
        </p:txBody>
      </p:sp>
      <p:sp>
        <p:nvSpPr>
          <p:cNvPr id="8" name="q-label-0">
            <a:extLst xmlns:a="http://schemas.openxmlformats.org/drawingml/2006/main">
              <a:ext uri="{FF2B5EF4-FFF2-40B4-BE49-F238E27FC236}">
                <a16:creationId xmlns:a16="http://schemas.microsoft.com/office/drawing/2014/main" id="{8BF3C70D-5691-4773-912D-C19FEDB3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変更理由</a:t>
            </a:r>
          </a:p>
        </p:txBody>
      </p:sp>
      <p:sp>
        <p:nvSpPr>
          <p:cNvPr id="9" name="q-1">
            <a:extLst xmlns:a="http://schemas.openxmlformats.org/drawingml/2006/main">
              <a:ext uri="{FF2B5EF4-FFF2-40B4-BE49-F238E27FC236}">
                <a16:creationId xmlns:a16="http://schemas.microsoft.com/office/drawing/2014/main" id="{E3EA29AB-6D85-4C70-88B2-3C47BC10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438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q-en-1">
            <a:extLst xmlns:a="http://schemas.openxmlformats.org/drawingml/2006/main">
              <a:ext uri="{FF2B5EF4-FFF2-40B4-BE49-F238E27FC236}">
                <a16:creationId xmlns:a16="http://schemas.microsoft.com/office/drawing/2014/main" id="{51544A66-9ACA-428D-8132-EA85ED94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What</a:t>
            </a:r>
          </a:p>
        </p:txBody>
      </p:sp>
      <p:sp>
        <p:nvSpPr>
          <p:cNvPr id="11" name="q-jp-1">
            <a:extLst xmlns:a="http://schemas.openxmlformats.org/drawingml/2006/main">
              <a:ext uri="{FF2B5EF4-FFF2-40B4-BE49-F238E27FC236}">
                <a16:creationId xmlns:a16="http://schemas.microsoft.com/office/drawing/2014/main" id="{423BBA1F-DB78-4411-8355-341829AD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何を変えるのか</a:t>
            </a:r>
          </a:p>
        </p:txBody>
      </p:sp>
      <p:sp>
        <p:nvSpPr>
          <p:cNvPr id="12" name="q-label-1">
            <a:extLst xmlns:a="http://schemas.openxmlformats.org/drawingml/2006/main">
              <a:ext uri="{FF2B5EF4-FFF2-40B4-BE49-F238E27FC236}">
                <a16:creationId xmlns:a16="http://schemas.microsoft.com/office/drawing/2014/main" id="{224552AE-DEC9-44C8-9C93-7CE0DD8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変更内容</a:t>
            </a:r>
          </a:p>
        </p:txBody>
      </p:sp>
      <p:sp>
        <p:nvSpPr>
          <p:cNvPr id="13" name="q-2">
            <a:extLst xmlns:a="http://schemas.openxmlformats.org/drawingml/2006/main">
              <a:ext uri="{FF2B5EF4-FFF2-40B4-BE49-F238E27FC236}">
                <a16:creationId xmlns:a16="http://schemas.microsoft.com/office/drawing/2014/main" id="{5FC11BC5-26FD-426E-8C6E-EE5B852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438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4" name="q-en-2">
            <a:extLst xmlns:a="http://schemas.openxmlformats.org/drawingml/2006/main">
              <a:ext uri="{FF2B5EF4-FFF2-40B4-BE49-F238E27FC236}">
                <a16:creationId xmlns:a16="http://schemas.microsoft.com/office/drawing/2014/main" id="{65B8F552-9F68-4BA4-94A1-AF4C68F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9B00"/>
                </a:solidFill>
              </a:defRPr>
            </a:pPr>
            <a:r>
              <a:rPr sz="1950" b="1">
                <a:solidFill>
                  <a:srgbClr val="D99B00"/>
                </a:solidFill>
              </a:rPr>
              <a:t>Where</a:t>
            </a:r>
          </a:p>
        </p:txBody>
      </p:sp>
      <p:sp>
        <p:nvSpPr>
          <p:cNvPr id="15" name="q-jp-2">
            <a:extLst xmlns:a="http://schemas.openxmlformats.org/drawingml/2006/main">
              <a:ext uri="{FF2B5EF4-FFF2-40B4-BE49-F238E27FC236}">
                <a16:creationId xmlns:a16="http://schemas.microsoft.com/office/drawing/2014/main" id="{B04B7E72-5BEA-4ECF-8EFD-CD09C5EF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どこを変えるのか</a:t>
            </a:r>
          </a:p>
        </p:txBody>
      </p:sp>
      <p:sp>
        <p:nvSpPr>
          <p:cNvPr id="16" name="q-label-2">
            <a:extLst xmlns:a="http://schemas.openxmlformats.org/drawingml/2006/main">
              <a:ext uri="{FF2B5EF4-FFF2-40B4-BE49-F238E27FC236}">
                <a16:creationId xmlns:a16="http://schemas.microsoft.com/office/drawing/2014/main" id="{38746ACE-6350-418E-B8A2-0C53E879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変更箇所</a:t>
            </a:r>
          </a:p>
        </p:txBody>
      </p:sp>
      <p:sp>
        <p:nvSpPr>
          <p:cNvPr id="17" name="q-3">
            <a:extLst xmlns:a="http://schemas.openxmlformats.org/drawingml/2006/main">
              <a:ext uri="{FF2B5EF4-FFF2-40B4-BE49-F238E27FC236}">
                <a16:creationId xmlns:a16="http://schemas.microsoft.com/office/drawing/2014/main" id="{FF211081-55BA-413B-B71D-8FCD9E70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438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1B8A5A"/>
            </a:solidFill>
            <a:prstDash val="solid"/>
          </a:ln>
        </p:spPr>
      </p:sp>
      <p:sp>
        <p:nvSpPr>
          <p:cNvPr id="18" name="q-en-3">
            <a:extLst xmlns:a="http://schemas.openxmlformats.org/drawingml/2006/main">
              <a:ext uri="{FF2B5EF4-FFF2-40B4-BE49-F238E27FC236}">
                <a16:creationId xmlns:a16="http://schemas.microsoft.com/office/drawing/2014/main" id="{6E281F23-DEA5-4AD4-8905-41DA5BD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B8A5A"/>
                </a:solidFill>
              </a:defRPr>
            </a:pPr>
            <a:r>
              <a:rPr sz="1950" b="1">
                <a:solidFill>
                  <a:srgbClr val="1B8A5A"/>
                </a:solidFill>
              </a:rPr>
              <a:t>How</a:t>
            </a:r>
          </a:p>
        </p:txBody>
      </p:sp>
      <p:sp>
        <p:nvSpPr>
          <p:cNvPr id="19" name="q-jp-3">
            <a:extLst xmlns:a="http://schemas.openxmlformats.org/drawingml/2006/main">
              <a:ext uri="{FF2B5EF4-FFF2-40B4-BE49-F238E27FC236}">
                <a16:creationId xmlns:a16="http://schemas.microsoft.com/office/drawing/2014/main" id="{5899D01C-BB28-49CF-B110-269D5EAD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575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どう変え、どう確認するか</a:t>
            </a:r>
          </a:p>
        </p:txBody>
      </p:sp>
      <p:sp>
        <p:nvSpPr>
          <p:cNvPr id="20" name="q-label-3">
            <a:extLst xmlns:a="http://schemas.openxmlformats.org/drawingml/2006/main">
              <a:ext uri="{FF2B5EF4-FFF2-40B4-BE49-F238E27FC236}">
                <a16:creationId xmlns:a16="http://schemas.microsoft.com/office/drawing/2014/main" id="{E4B33F41-6B7A-4475-B784-769094E8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872"/>
                </a:solidFill>
              </a:defRPr>
            </a:pPr>
            <a:r>
              <a:rPr sz="1275" b="0">
                <a:solidFill>
                  <a:srgbClr val="606872"/>
                </a:solidFill>
              </a:rPr>
              <a:t>変更方法</a:t>
            </a:r>
          </a:p>
        </p:txBody>
      </p:sp>
      <p:sp>
        <p:nvSpPr>
          <p:cNvPr id="21" name="q-ai">
            <a:extLst xmlns:a="http://schemas.openxmlformats.org/drawingml/2006/main">
              <a:ext uri="{FF2B5EF4-FFF2-40B4-BE49-F238E27FC236}">
                <a16:creationId xmlns:a16="http://schemas.microsoft.com/office/drawing/2014/main" id="{80C1E44A-D0EC-44A1-883A-6A019C8A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476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q-ai-text">
            <a:extLst xmlns:a="http://schemas.openxmlformats.org/drawingml/2006/main">
              <a:ext uri="{FF2B5EF4-FFF2-40B4-BE49-F238E27FC236}">
                <a16:creationId xmlns:a16="http://schemas.microsoft.com/office/drawing/2014/main" id="{F5DBD355-D16F-4A5D-AA94-6548B0D6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AI：整理状況と不足を示す</a:t>
            </a:r>
          </a:p>
        </p:txBody>
      </p:sp>
      <p:sp>
        <p:nvSpPr>
          <p:cNvPr id="23" name="q-human">
            <a:extLst xmlns:a="http://schemas.openxmlformats.org/drawingml/2006/main">
              <a:ext uri="{FF2B5EF4-FFF2-40B4-BE49-F238E27FC236}">
                <a16:creationId xmlns:a16="http://schemas.microsoft.com/office/drawing/2014/main" id="{5CE92220-4DAC-4256-8654-D8AF9C0F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05350"/>
            <a:ext cx="476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24" name="q-human-text">
            <a:extLst xmlns:a="http://schemas.openxmlformats.org/drawingml/2006/main">
              <a:ext uri="{FF2B5EF4-FFF2-40B4-BE49-F238E27FC236}">
                <a16:creationId xmlns:a16="http://schemas.microsoft.com/office/drawing/2014/main" id="{14141B23-8C70-4A95-867A-0BAFFA5D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387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9B00"/>
                </a:solidFill>
              </a:defRPr>
            </a:pPr>
            <a:r>
              <a:rPr sz="1500" b="1">
                <a:solidFill>
                  <a:srgbClr val="D99B00"/>
                </a:solidFill>
              </a:rPr>
              <a:t>人間：内容を確認して次に進むか決める</a:t>
            </a:r>
          </a:p>
        </p:txBody>
      </p:sp>
      <p:sp>
        <p:nvSpPr>
          <p:cNvPr id="25" name="q-definition">
            <a:extLst xmlns:a="http://schemas.openxmlformats.org/drawingml/2006/main">
              <a:ext uri="{FF2B5EF4-FFF2-40B4-BE49-F238E27FC236}">
                <a16:creationId xmlns:a16="http://schemas.microsoft.com/office/drawing/2014/main" id="{E0194C23-9EC0-442A-95CD-A02BBC98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53B45"/>
                </a:solidFill>
              </a:defRPr>
            </a:pPr>
            <a:r>
              <a:rPr sz="1425" b="1">
                <a:solidFill>
                  <a:srgbClr val="C53B45"/>
                </a:solidFill>
              </a:rPr>
              <a:t>想定差：要求・仕様・現行挙動・期待結果の間にある差異・不足・矛盾・未定義事項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069A6AA-4348-4711-B8FA-F6220CFF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E5C1A968-B305-48A7-902E-DA347E9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5D4C85B8-7436-4A76-AEFE-045DD40D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7607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">
            <a:extLst xmlns:a="http://schemas.openxmlformats.org/drawingml/2006/main">
              <a:ext uri="{FF2B5EF4-FFF2-40B4-BE49-F238E27FC236}">
                <a16:creationId xmlns:a16="http://schemas.microsoft.com/office/drawing/2014/main" id="{A38BCB15-DD8B-497B-9924-85B6452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対話ループ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B5E60FE-1C22-4732-803E-81D4BE9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想定差が見つかったら、AIと人間で往復して具体化する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806D84BA-71E3-485B-BF33-CD8202A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一方向の依頼と回答ではなく、確認と回答を重ねて次の成果物を更新します。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C14DA9-30D3-4D52-AEF9-DAAFDE1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7555EAC1-4FED-406D-A2A4-D9D3264F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6" name="loop-num-0">
            <a:extLst xmlns:a="http://schemas.openxmlformats.org/drawingml/2006/main">
              <a:ext uri="{FF2B5EF4-FFF2-40B4-BE49-F238E27FC236}">
                <a16:creationId xmlns:a16="http://schemas.microsoft.com/office/drawing/2014/main" id="{B0622DBC-AB43-4B5F-8608-84885376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9B00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7" name="loop-n-0">
            <a:extLst xmlns:a="http://schemas.openxmlformats.org/drawingml/2006/main">
              <a:ext uri="{FF2B5EF4-FFF2-40B4-BE49-F238E27FC236}">
                <a16:creationId xmlns:a16="http://schemas.microsoft.com/office/drawing/2014/main" id="{7A432F34-DDE4-4814-8194-DB25C68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oop-who-0">
            <a:extLst xmlns:a="http://schemas.openxmlformats.org/drawingml/2006/main">
              <a:ext uri="{FF2B5EF4-FFF2-40B4-BE49-F238E27FC236}">
                <a16:creationId xmlns:a16="http://schemas.microsoft.com/office/drawing/2014/main" id="{00D4A3E1-D34C-46E3-8408-16F775E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B00"/>
                </a:solidFill>
              </a:defRPr>
            </a:pPr>
            <a:r>
              <a:rPr sz="1350" b="1">
                <a:solidFill>
                  <a:srgbClr val="D99B00"/>
                </a:solidFill>
              </a:rPr>
              <a:t>人間</a:t>
            </a:r>
          </a:p>
        </p:txBody>
      </p:sp>
      <p:sp>
        <p:nvSpPr>
          <p:cNvPr id="9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B1A6626-F243-4155-A169-7C80E098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要求・現行情報・証拠・制約を渡す</a:t>
            </a:r>
          </a:p>
        </p:txBody>
      </p:sp>
      <p:sp>
        <p:nvSpPr>
          <p:cNvPr id="10" name="loop-1">
            <a:extLst xmlns:a="http://schemas.openxmlformats.org/drawingml/2006/main">
              <a:ext uri="{FF2B5EF4-FFF2-40B4-BE49-F238E27FC236}">
                <a16:creationId xmlns:a16="http://schemas.microsoft.com/office/drawing/2014/main" id="{F69B75FC-A499-4220-A054-1463EB5F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loop-num-1">
            <a:extLst xmlns:a="http://schemas.openxmlformats.org/drawingml/2006/main">
              <a:ext uri="{FF2B5EF4-FFF2-40B4-BE49-F238E27FC236}">
                <a16:creationId xmlns:a16="http://schemas.microsoft.com/office/drawing/2014/main" id="{DD9FE761-4D8D-45D7-B226-230D72B2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loop-n-1">
            <a:extLst xmlns:a="http://schemas.openxmlformats.org/drawingml/2006/main">
              <a:ext uri="{FF2B5EF4-FFF2-40B4-BE49-F238E27FC236}">
                <a16:creationId xmlns:a16="http://schemas.microsoft.com/office/drawing/2014/main" id="{D6636B23-FA69-4EE4-BDCB-2451A25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oop-who-1">
            <a:extLst xmlns:a="http://schemas.openxmlformats.org/drawingml/2006/main">
              <a:ext uri="{FF2B5EF4-FFF2-40B4-BE49-F238E27FC236}">
                <a16:creationId xmlns:a16="http://schemas.microsoft.com/office/drawing/2014/main" id="{0F963A1A-9DDE-4CBA-B289-FEF18136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AI</a:t>
            </a:r>
          </a:p>
        </p:txBody>
      </p:sp>
      <p:sp>
        <p:nvSpPr>
          <p:cNvPr id="14" name="loop-body-1">
            <a:extLst xmlns:a="http://schemas.openxmlformats.org/drawingml/2006/main">
              <a:ext uri="{FF2B5EF4-FFF2-40B4-BE49-F238E27FC236}">
                <a16:creationId xmlns:a16="http://schemas.microsoft.com/office/drawing/2014/main" id="{35FD97B1-BA87-4E28-B3FD-18E3687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仕様・挙動・要求を比較する</a:t>
            </a:r>
          </a:p>
        </p:txBody>
      </p:sp>
      <p:sp>
        <p:nvSpPr>
          <p:cNvPr id="15" name="loop-2">
            <a:extLst xmlns:a="http://schemas.openxmlformats.org/drawingml/2006/main">
              <a:ext uri="{FF2B5EF4-FFF2-40B4-BE49-F238E27FC236}">
                <a16:creationId xmlns:a16="http://schemas.microsoft.com/office/drawing/2014/main" id="{A29C2ABA-D6EC-4EA0-B6AE-7A57AA2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loop-num-2">
            <a:extLst xmlns:a="http://schemas.openxmlformats.org/drawingml/2006/main">
              <a:ext uri="{FF2B5EF4-FFF2-40B4-BE49-F238E27FC236}">
                <a16:creationId xmlns:a16="http://schemas.microsoft.com/office/drawing/2014/main" id="{DD7DEC3F-835F-49AD-A49C-691691A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loop-n-2">
            <a:extLst xmlns:a="http://schemas.openxmlformats.org/drawingml/2006/main">
              <a:ext uri="{FF2B5EF4-FFF2-40B4-BE49-F238E27FC236}">
                <a16:creationId xmlns:a16="http://schemas.microsoft.com/office/drawing/2014/main" id="{BF49560B-F516-4001-8202-6B72F3CD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oop-who-2">
            <a:extLst xmlns:a="http://schemas.openxmlformats.org/drawingml/2006/main">
              <a:ext uri="{FF2B5EF4-FFF2-40B4-BE49-F238E27FC236}">
                <a16:creationId xmlns:a16="http://schemas.microsoft.com/office/drawing/2014/main" id="{476608B7-29B7-40AF-B5FD-2EEAFEC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AI</a:t>
            </a:r>
          </a:p>
        </p:txBody>
      </p:sp>
      <p:sp>
        <p:nvSpPr>
          <p:cNvPr id="19" name="loop-body-2">
            <a:extLst xmlns:a="http://schemas.openxmlformats.org/drawingml/2006/main">
              <a:ext uri="{FF2B5EF4-FFF2-40B4-BE49-F238E27FC236}">
                <a16:creationId xmlns:a16="http://schemas.microsoft.com/office/drawing/2014/main" id="{F8F8708B-0E4B-46FA-8FEE-665F929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337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不足・矛盾・想定差を提示する</a:t>
            </a:r>
          </a:p>
        </p:txBody>
      </p:sp>
      <p:sp>
        <p:nvSpPr>
          <p:cNvPr id="20" name="loop-3">
            <a:extLst xmlns:a="http://schemas.openxmlformats.org/drawingml/2006/main">
              <a:ext uri="{FF2B5EF4-FFF2-40B4-BE49-F238E27FC236}">
                <a16:creationId xmlns:a16="http://schemas.microsoft.com/office/drawing/2014/main" id="{269BF68E-5C61-4C86-97DF-F7962C8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loop-num-3">
            <a:extLst xmlns:a="http://schemas.openxmlformats.org/drawingml/2006/main">
              <a:ext uri="{FF2B5EF4-FFF2-40B4-BE49-F238E27FC236}">
                <a16:creationId xmlns:a16="http://schemas.microsoft.com/office/drawing/2014/main" id="{C410AA88-4DF6-47F3-A448-3032BF2C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loop-n-3">
            <a:extLst xmlns:a="http://schemas.openxmlformats.org/drawingml/2006/main">
              <a:ext uri="{FF2B5EF4-FFF2-40B4-BE49-F238E27FC236}">
                <a16:creationId xmlns:a16="http://schemas.microsoft.com/office/drawing/2014/main" id="{957F1F8E-900F-4C78-AB5C-9447EB25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loop-who-3">
            <a:extLst xmlns:a="http://schemas.openxmlformats.org/drawingml/2006/main">
              <a:ext uri="{FF2B5EF4-FFF2-40B4-BE49-F238E27FC236}">
                <a16:creationId xmlns:a16="http://schemas.microsoft.com/office/drawing/2014/main" id="{8AD059B6-F8D8-412B-8755-5B48E9E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AI</a:t>
            </a:r>
          </a:p>
        </p:txBody>
      </p:sp>
      <p:sp>
        <p:nvSpPr>
          <p:cNvPr id="24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A2380F9-738A-4111-B8A3-FB5B365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人間に確認事項を質問する</a:t>
            </a:r>
          </a:p>
        </p:txBody>
      </p:sp>
      <p:sp>
        <p:nvSpPr>
          <p:cNvPr id="25" name="loop-4">
            <a:extLst xmlns:a="http://schemas.openxmlformats.org/drawingml/2006/main">
              <a:ext uri="{FF2B5EF4-FFF2-40B4-BE49-F238E27FC236}">
                <a16:creationId xmlns:a16="http://schemas.microsoft.com/office/drawing/2014/main" id="{A449F37C-DB99-4397-9CEF-6D786152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26" name="loop-num-4">
            <a:extLst xmlns:a="http://schemas.openxmlformats.org/drawingml/2006/main">
              <a:ext uri="{FF2B5EF4-FFF2-40B4-BE49-F238E27FC236}">
                <a16:creationId xmlns:a16="http://schemas.microsoft.com/office/drawing/2014/main" id="{B5E7E315-1E49-4389-A027-8A10B0A1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9B00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27" name="loop-n-4">
            <a:extLst xmlns:a="http://schemas.openxmlformats.org/drawingml/2006/main">
              <a:ext uri="{FF2B5EF4-FFF2-40B4-BE49-F238E27FC236}">
                <a16:creationId xmlns:a16="http://schemas.microsoft.com/office/drawing/2014/main" id="{A1C2782E-92CB-462F-9BA2-01F8E586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oop-who-4">
            <a:extLst xmlns:a="http://schemas.openxmlformats.org/drawingml/2006/main">
              <a:ext uri="{FF2B5EF4-FFF2-40B4-BE49-F238E27FC236}">
                <a16:creationId xmlns:a16="http://schemas.microsoft.com/office/drawing/2014/main" id="{5387A1DF-417D-474D-90A0-9434C74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7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B00"/>
                </a:solidFill>
              </a:defRPr>
            </a:pPr>
            <a:r>
              <a:rPr sz="1350" b="1">
                <a:solidFill>
                  <a:srgbClr val="D99B00"/>
                </a:solidFill>
              </a:rPr>
              <a:t>人間</a:t>
            </a:r>
          </a:p>
        </p:txBody>
      </p:sp>
      <p:sp>
        <p:nvSpPr>
          <p:cNvPr id="29" name="loop-body-4">
            <a:extLst xmlns:a="http://schemas.openxmlformats.org/drawingml/2006/main">
              <a:ext uri="{FF2B5EF4-FFF2-40B4-BE49-F238E27FC236}">
                <a16:creationId xmlns:a16="http://schemas.microsoft.com/office/drawing/2014/main" id="{5F0C773B-ECA2-494F-BCBD-7ADC61CD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624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期待値・変更可否・守る条件を回答する</a:t>
            </a:r>
          </a:p>
        </p:txBody>
      </p:sp>
      <p:sp>
        <p:nvSpPr>
          <p:cNvPr id="30" name="loop-5">
            <a:extLst xmlns:a="http://schemas.openxmlformats.org/drawingml/2006/main">
              <a:ext uri="{FF2B5EF4-FFF2-40B4-BE49-F238E27FC236}">
                <a16:creationId xmlns:a16="http://schemas.microsoft.com/office/drawing/2014/main" id="{39113220-B224-435F-A58D-E41E3B0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1B8A5A"/>
            </a:solidFill>
            <a:prstDash val="solid"/>
          </a:ln>
        </p:spPr>
      </p:sp>
      <p:sp>
        <p:nvSpPr>
          <p:cNvPr id="31" name="loop-num-5">
            <a:extLst xmlns:a="http://schemas.openxmlformats.org/drawingml/2006/main">
              <a:ext uri="{FF2B5EF4-FFF2-40B4-BE49-F238E27FC236}">
                <a16:creationId xmlns:a16="http://schemas.microsoft.com/office/drawing/2014/main" id="{69171466-E4D9-4D42-8ED1-2293C641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8A5A"/>
          </a:solidFill>
          <a:ln xmlns:a="http://schemas.openxmlformats.org/drawingml/2006/main" w="9525">
            <a:solidFill>
              <a:srgbClr val="1B8A5A"/>
            </a:solidFill>
            <a:prstDash val="solid"/>
          </a:ln>
        </p:spPr>
      </p:sp>
      <p:sp>
        <p:nvSpPr>
          <p:cNvPr id="32" name="loop-n-5">
            <a:extLst xmlns:a="http://schemas.openxmlformats.org/drawingml/2006/main">
              <a:ext uri="{FF2B5EF4-FFF2-40B4-BE49-F238E27FC236}">
                <a16:creationId xmlns:a16="http://schemas.microsoft.com/office/drawing/2014/main" id="{1A294041-A962-4816-9340-6C34288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loop-who-5">
            <a:extLst xmlns:a="http://schemas.openxmlformats.org/drawingml/2006/main">
              <a:ext uri="{FF2B5EF4-FFF2-40B4-BE49-F238E27FC236}">
                <a16:creationId xmlns:a16="http://schemas.microsoft.com/office/drawing/2014/main" id="{FBED54EC-0739-4753-ACA6-7B8106C0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7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8A5A"/>
                </a:solidFill>
              </a:defRPr>
            </a:pPr>
            <a:r>
              <a:rPr sz="1350" b="1">
                <a:solidFill>
                  <a:srgbClr val="1B8A5A"/>
                </a:solidFill>
              </a:rPr>
              <a:t>AI→人間</a:t>
            </a:r>
          </a:p>
        </p:txBody>
      </p:sp>
      <p:sp>
        <p:nvSpPr>
          <p:cNvPr id="34" name="loop-body-5">
            <a:extLst xmlns:a="http://schemas.openxmlformats.org/drawingml/2006/main">
              <a:ext uri="{FF2B5EF4-FFF2-40B4-BE49-F238E27FC236}">
                <a16:creationId xmlns:a16="http://schemas.microsoft.com/office/drawing/2014/main" id="{A359D85B-B29B-4F33-9086-10828895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624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成果物を更新し、承認・保留・差戻しを決める</a:t>
            </a:r>
          </a:p>
        </p:txBody>
      </p:sp>
      <p:sp>
        <p:nvSpPr>
          <p:cNvPr id="35" name="loop-bottom">
            <a:extLst xmlns:a="http://schemas.openxmlformats.org/drawingml/2006/main">
              <a:ext uri="{FF2B5EF4-FFF2-40B4-BE49-F238E27FC236}">
                <a16:creationId xmlns:a16="http://schemas.microsoft.com/office/drawing/2014/main" id="{14E11668-BC40-436F-B614-367301D2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人間の回答で内容が具体化し、承認後にAIが次の作業へ進む</a:t>
            </a:r>
          </a:p>
        </p:txBody>
      </p:sp>
      <p:sp>
        <p:nvSpPr>
          <p:cNvPr id="3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A83021-05CA-4EFC-A752-A83A9BF2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BC07F3DC-4CDD-4670-A153-DDDC10E0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38" name="page">
            <a:extLst xmlns:a="http://schemas.openxmlformats.org/drawingml/2006/main">
              <a:ext uri="{FF2B5EF4-FFF2-40B4-BE49-F238E27FC236}">
                <a16:creationId xmlns:a16="http://schemas.microsoft.com/office/drawing/2014/main" id="{6AA89F50-1DCD-4B88-91CB-7EF6787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73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E3AC2907-4D9B-4670-82C8-7813C236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対話例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1B67A04-087A-40BD-8908-0158BFD4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REQ-042：想定差を質問と回答で解消する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38AD80A2-F724-4DBF-9335-06CD8648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以下は仕組みを説明する架空の例です。実績や実測結果を示すものではありません。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6392FEB-96CB-49F2-9D4F-7AD75C7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ex-human">
            <a:extLst xmlns:a="http://schemas.openxmlformats.org/drawingml/2006/main">
              <a:ext uri="{FF2B5EF4-FFF2-40B4-BE49-F238E27FC236}">
                <a16:creationId xmlns:a16="http://schemas.microsoft.com/office/drawing/2014/main" id="{36BB63FE-33B7-45D6-9177-8CDFA983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3147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6" name="ex-human-title">
            <a:extLst xmlns:a="http://schemas.openxmlformats.org/drawingml/2006/main">
              <a:ext uri="{FF2B5EF4-FFF2-40B4-BE49-F238E27FC236}">
                <a16:creationId xmlns:a16="http://schemas.microsoft.com/office/drawing/2014/main" id="{A76ECA13-EAEB-4BAE-915B-AD07616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9B00"/>
                </a:solidFill>
              </a:defRPr>
            </a:pPr>
            <a:r>
              <a:rPr sz="1800" b="1">
                <a:solidFill>
                  <a:srgbClr val="D99B00"/>
                </a:solidFill>
              </a:rPr>
              <a:t>人間の依頼</a:t>
            </a:r>
          </a:p>
        </p:txBody>
      </p:sp>
      <p:sp>
        <p:nvSpPr>
          <p:cNvPr id="7" name="ex-human-body">
            <a:extLst xmlns:a="http://schemas.openxmlformats.org/drawingml/2006/main">
              <a:ext uri="{FF2B5EF4-FFF2-40B4-BE49-F238E27FC236}">
                <a16:creationId xmlns:a16="http://schemas.microsoft.com/office/drawing/2014/main" id="{6A53B7EA-3311-40DB-8BBF-57AA517C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590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要求：REQ-042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対象：order status UI / API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変更：code 1の表示ラベル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制約：下流APIと互換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出力：差分表＋引き継ぎ</a:t>
            </a:r>
          </a:p>
        </p:txBody>
      </p:sp>
      <p:sp>
        <p:nvSpPr>
          <p:cNvPr id="8" name="ex-a1">
            <a:extLst xmlns:a="http://schemas.openxmlformats.org/drawingml/2006/main">
              <a:ext uri="{FF2B5EF4-FFF2-40B4-BE49-F238E27FC236}">
                <a16:creationId xmlns:a16="http://schemas.microsoft.com/office/drawing/2014/main" id="{BD82D406-9B20-43A5-8A93-7E53C5D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33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ex-ai">
            <a:extLst xmlns:a="http://schemas.openxmlformats.org/drawingml/2006/main">
              <a:ext uri="{FF2B5EF4-FFF2-40B4-BE49-F238E27FC236}">
                <a16:creationId xmlns:a16="http://schemas.microsoft.com/office/drawing/2014/main" id="{9A67A6F2-BF48-4B31-A3CB-2D0A3FB5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33147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ex-ai-title">
            <a:extLst xmlns:a="http://schemas.openxmlformats.org/drawingml/2006/main">
              <a:ext uri="{FF2B5EF4-FFF2-40B4-BE49-F238E27FC236}">
                <a16:creationId xmlns:a16="http://schemas.microsoft.com/office/drawing/2014/main" id="{BFAE0DCE-0E65-44EC-B976-DA2B1215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860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AIが検出する想定差</a:t>
            </a:r>
          </a:p>
        </p:txBody>
      </p:sp>
      <p:sp>
        <p:nvSpPr>
          <p:cNvPr id="11" name="ex-ai-body">
            <a:extLst xmlns:a="http://schemas.openxmlformats.org/drawingml/2006/main">
              <a:ext uri="{FF2B5EF4-FFF2-40B4-BE49-F238E27FC236}">
                <a16:creationId xmlns:a16="http://schemas.microsoft.com/office/drawing/2014/main" id="{52FE176D-8D62-4E9B-A964-4B9EC10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・仕様とUIが不一致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・UIだけ変更／API維持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・未知コードは未定義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・期待値を作れない</a:t>
            </a:r>
          </a:p>
        </p:txBody>
      </p:sp>
      <p:sp>
        <p:nvSpPr>
          <p:cNvPr id="12" name="ex-a2">
            <a:extLst xmlns:a="http://schemas.openxmlformats.org/drawingml/2006/main">
              <a:ext uri="{FF2B5EF4-FFF2-40B4-BE49-F238E27FC236}">
                <a16:creationId xmlns:a16="http://schemas.microsoft.com/office/drawing/2014/main" id="{09475683-874D-4997-8846-49A91E44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ex-q">
            <a:extLst xmlns:a="http://schemas.openxmlformats.org/drawingml/2006/main">
              <a:ext uri="{FF2B5EF4-FFF2-40B4-BE49-F238E27FC236}">
                <a16:creationId xmlns:a16="http://schemas.microsoft.com/office/drawing/2014/main" id="{910DA91E-6A11-4C0D-BF45-B969DC60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048000" cy="31051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ex-q-title">
            <a:extLst xmlns:a="http://schemas.openxmlformats.org/drawingml/2006/main">
              <a:ext uri="{FF2B5EF4-FFF2-40B4-BE49-F238E27FC236}">
                <a16:creationId xmlns:a16="http://schemas.microsoft.com/office/drawing/2014/main" id="{9C57F2B5-540B-452A-BBBC-B0599972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AIからの質問</a:t>
            </a:r>
          </a:p>
        </p:txBody>
      </p:sp>
      <p:sp>
        <p:nvSpPr>
          <p:cNvPr id="15" name="ex-q-body">
            <a:extLst xmlns:a="http://schemas.openxmlformats.org/drawingml/2006/main">
              <a:ext uri="{FF2B5EF4-FFF2-40B4-BE49-F238E27FC236}">
                <a16:creationId xmlns:a16="http://schemas.microsoft.com/office/drawing/2014/main" id="{79AEBC25-EE42-4F7D-B943-58BEF54A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2190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未知コードの表示は？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現行表示を維持？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エラー扱い？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承認者は誰？</a:t>
            </a:r>
          </a:p>
        </p:txBody>
      </p:sp>
      <p:sp>
        <p:nvSpPr>
          <p:cNvPr id="16" name="ex-answer">
            <a:extLst xmlns:a="http://schemas.openxmlformats.org/drawingml/2006/main">
              <a:ext uri="{FF2B5EF4-FFF2-40B4-BE49-F238E27FC236}">
                <a16:creationId xmlns:a16="http://schemas.microsoft.com/office/drawing/2014/main" id="{A3582512-03E4-4252-A367-A0B3E363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99B00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7" name="ex-answer-text">
            <a:extLst xmlns:a="http://schemas.openxmlformats.org/drawingml/2006/main">
              <a:ext uri="{FF2B5EF4-FFF2-40B4-BE49-F238E27FC236}">
                <a16:creationId xmlns:a16="http://schemas.microsoft.com/office/drawing/2014/main" id="{B86FF49D-1F14-4ACB-AE88-7A98D298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29300"/>
            <a:ext cx="883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人間：不明と表示・APIは変更しない・UIだけ変更・責任者が承認 → AI：成果物更新へ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14612D-7A88-448E-9B33-1C1F6718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30AF341F-58A3-451F-BE8E-A3B26716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64AF014C-152A-42F7-A0F6-B9F523E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34819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FC41C578-C287-4628-982B-F60CA225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要求定義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E8825B5-C524-4FA0-9A2F-5C6503D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要求定義は、そのまま使えるかをAIと人間で確認する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6016B66A-3652-47BA-9073-1E4C5430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不足・不明点・矛盾を整理し、利用・補正・保留を判断します。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76FE99-D8C8-4B8C-9107-F105CE74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req-in">
            <a:extLst xmlns:a="http://schemas.openxmlformats.org/drawingml/2006/main">
              <a:ext uri="{FF2B5EF4-FFF2-40B4-BE49-F238E27FC236}">
                <a16:creationId xmlns:a16="http://schemas.microsoft.com/office/drawing/2014/main" id="{C3E08238-29E4-4FFF-A847-239C9CCA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" name="req-in-title">
            <a:extLst xmlns:a="http://schemas.openxmlformats.org/drawingml/2006/main">
              <a:ext uri="{FF2B5EF4-FFF2-40B4-BE49-F238E27FC236}">
                <a16:creationId xmlns:a16="http://schemas.microsoft.com/office/drawing/2014/main" id="{D0E3D559-D8A6-418A-B7C7-BD76F0B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AIに渡す情報</a:t>
            </a:r>
          </a:p>
        </p:txBody>
      </p:sp>
      <p:sp>
        <p:nvSpPr>
          <p:cNvPr id="7" name="req-in-body">
            <a:extLst xmlns:a="http://schemas.openxmlformats.org/drawingml/2006/main">
              <a:ext uri="{FF2B5EF4-FFF2-40B4-BE49-F238E27FC236}">
                <a16:creationId xmlns:a16="http://schemas.microsoft.com/office/drawing/2014/main" id="{5E89741A-D8DC-4E4B-A750-CFB27FF5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要求定義書・版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出典・担当者・承認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現行挙動の証拠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目的・受入条件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既存設計・テスト</a:t>
            </a:r>
          </a:p>
        </p:txBody>
      </p:sp>
      <p:sp>
        <p:nvSpPr>
          <p:cNvPr id="8" name="req-a1">
            <a:extLst xmlns:a="http://schemas.openxmlformats.org/drawingml/2006/main">
              <a:ext uri="{FF2B5EF4-FFF2-40B4-BE49-F238E27FC236}">
                <a16:creationId xmlns:a16="http://schemas.microsoft.com/office/drawing/2014/main" id="{3809C044-33FE-465F-AF02-5E85529D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req-ai">
            <a:extLst xmlns:a="http://schemas.openxmlformats.org/drawingml/2006/main">
              <a:ext uri="{FF2B5EF4-FFF2-40B4-BE49-F238E27FC236}">
                <a16:creationId xmlns:a16="http://schemas.microsoft.com/office/drawing/2014/main" id="{AF65E78D-CC20-4A63-A335-249B24C7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eq-ai-title">
            <a:extLst xmlns:a="http://schemas.openxmlformats.org/drawingml/2006/main">
              <a:ext uri="{FF2B5EF4-FFF2-40B4-BE49-F238E27FC236}">
                <a16:creationId xmlns:a16="http://schemas.microsoft.com/office/drawing/2014/main" id="{5563CF5A-B6D2-4EDE-BC50-E2247DCE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AIの整理結果</a:t>
            </a:r>
          </a:p>
        </p:txBody>
      </p:sp>
      <p:sp>
        <p:nvSpPr>
          <p:cNvPr id="11" name="req-ai-body">
            <a:extLst xmlns:a="http://schemas.openxmlformats.org/drawingml/2006/main">
              <a:ext uri="{FF2B5EF4-FFF2-40B4-BE49-F238E27FC236}">
                <a16:creationId xmlns:a16="http://schemas.microsoft.com/office/drawing/2014/main" id="{BA926D4E-58B5-4A37-B433-96DB8CE9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219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対象と範囲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現行／望ましい挙動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不足・不明点・矛盾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根拠と下流影響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判断事項</a:t>
            </a:r>
          </a:p>
        </p:txBody>
      </p:sp>
      <p:sp>
        <p:nvSpPr>
          <p:cNvPr id="12" name="req-a2">
            <a:extLst xmlns:a="http://schemas.openxmlformats.org/drawingml/2006/main">
              <a:ext uri="{FF2B5EF4-FFF2-40B4-BE49-F238E27FC236}">
                <a16:creationId xmlns:a16="http://schemas.microsoft.com/office/drawing/2014/main" id="{993F8DC8-8F04-443E-9070-5DCE35F6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req-human">
            <a:extLst xmlns:a="http://schemas.openxmlformats.org/drawingml/2006/main">
              <a:ext uri="{FF2B5EF4-FFF2-40B4-BE49-F238E27FC236}">
                <a16:creationId xmlns:a16="http://schemas.microsoft.com/office/drawing/2014/main" id="{40B1BCF9-77C6-4FD0-973E-3E036B83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781300" cy="2952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4" name="req-human-title">
            <a:extLst xmlns:a="http://schemas.openxmlformats.org/drawingml/2006/main">
              <a:ext uri="{FF2B5EF4-FFF2-40B4-BE49-F238E27FC236}">
                <a16:creationId xmlns:a16="http://schemas.microsoft.com/office/drawing/2014/main" id="{B4E0A485-F304-45DF-8B82-6AAC7EB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B00"/>
                </a:solidFill>
              </a:defRPr>
            </a:pPr>
            <a:r>
              <a:rPr sz="1875" b="1">
                <a:solidFill>
                  <a:srgbClr val="D99B00"/>
                </a:solidFill>
              </a:rPr>
              <a:t>人間の判断</a:t>
            </a:r>
          </a:p>
        </p:txBody>
      </p:sp>
      <p:sp>
        <p:nvSpPr>
          <p:cNvPr id="15" name="req-human-body">
            <a:extLst xmlns:a="http://schemas.openxmlformats.org/drawingml/2006/main">
              <a:ext uri="{FF2B5EF4-FFF2-40B4-BE49-F238E27FC236}">
                <a16:creationId xmlns:a16="http://schemas.microsoft.com/office/drawing/2014/main" id="{A0356B8A-B602-4999-95AB-1D80E22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1866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そのまま利用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補足・修正して利用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保留・差戻し</a:t>
            </a:r>
          </a:p>
        </p:txBody>
      </p:sp>
      <p:sp>
        <p:nvSpPr>
          <p:cNvPr id="16" name="req-human-gate">
            <a:extLst xmlns:a="http://schemas.openxmlformats.org/drawingml/2006/main">
              <a:ext uri="{FF2B5EF4-FFF2-40B4-BE49-F238E27FC236}">
                <a16:creationId xmlns:a16="http://schemas.microsoft.com/office/drawing/2014/main" id="{18CEAF3A-C477-496D-8582-7D770DD9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53B45"/>
                </a:solidFill>
              </a:defRPr>
            </a:pPr>
            <a:r>
              <a:rPr sz="1500" b="1">
                <a:solidFill>
                  <a:srgbClr val="C53B45"/>
                </a:solidFill>
              </a:rPr>
              <a:t>担当者・承認・期待値・重大な矛盾が不明なら、設計へ進めない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FF97907-4D01-41F7-A0B8-D76BF0D5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A84BD08-1270-41A8-9C4E-8E8101E7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021ADE97-8714-4869-B2C8-A6882837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2598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kicker">
            <a:extLst xmlns:a="http://schemas.openxmlformats.org/drawingml/2006/main">
              <a:ext uri="{FF2B5EF4-FFF2-40B4-BE49-F238E27FC236}">
                <a16:creationId xmlns:a16="http://schemas.microsoft.com/office/drawing/2014/main" id="{552DFDFC-DE92-4B48-ABC8-775B8FFC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設計完了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71A7318-D7B2-4CD3-AB68-F0941096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設計の差分を承認し、テストケースを作れる状態で終える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4BC289FA-F605-4580-AD79-7444A8F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AIは比較と不足検出を行い、人間は変更の意味・守る条件・設計完了を判断します。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1D8032-7E33-464D-AEC6-E63CF976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d-h-0">
            <a:extLst xmlns:a="http://schemas.openxmlformats.org/drawingml/2006/main">
              <a:ext uri="{FF2B5EF4-FFF2-40B4-BE49-F238E27FC236}">
                <a16:creationId xmlns:a16="http://schemas.microsoft.com/office/drawing/2014/main" id="{351BAFA5-E619-47B3-85C1-0B3B61F3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d-ht-0">
            <a:extLst xmlns:a="http://schemas.openxmlformats.org/drawingml/2006/main">
              <a:ext uri="{FF2B5EF4-FFF2-40B4-BE49-F238E27FC236}">
                <a16:creationId xmlns:a16="http://schemas.microsoft.com/office/drawing/2014/main" id="{A241ECF8-DA41-48F2-98E7-406B186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現行仕様</a:t>
            </a:r>
          </a:p>
        </p:txBody>
      </p:sp>
      <p:sp>
        <p:nvSpPr>
          <p:cNvPr id="7" name="d-h-1">
            <a:extLst xmlns:a="http://schemas.openxmlformats.org/drawingml/2006/main">
              <a:ext uri="{FF2B5EF4-FFF2-40B4-BE49-F238E27FC236}">
                <a16:creationId xmlns:a16="http://schemas.microsoft.com/office/drawing/2014/main" id="{1C6700B2-6F93-40A9-8F2D-3AF6814C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d-ht-1">
            <a:extLst xmlns:a="http://schemas.openxmlformats.org/drawingml/2006/main">
              <a:ext uri="{FF2B5EF4-FFF2-40B4-BE49-F238E27FC236}">
                <a16:creationId xmlns:a16="http://schemas.microsoft.com/office/drawing/2014/main" id="{493FA2E9-220C-4826-896C-7E8363AD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現行挙動</a:t>
            </a:r>
          </a:p>
        </p:txBody>
      </p:sp>
      <p:sp>
        <p:nvSpPr>
          <p:cNvPr id="9" name="d-h-2">
            <a:extLst xmlns:a="http://schemas.openxmlformats.org/drawingml/2006/main">
              <a:ext uri="{FF2B5EF4-FFF2-40B4-BE49-F238E27FC236}">
                <a16:creationId xmlns:a16="http://schemas.microsoft.com/office/drawing/2014/main" id="{5FD74F63-C6EA-49A8-94DC-88105C63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d-ht-2">
            <a:extLst xmlns:a="http://schemas.openxmlformats.org/drawingml/2006/main">
              <a:ext uri="{FF2B5EF4-FFF2-40B4-BE49-F238E27FC236}">
                <a16:creationId xmlns:a16="http://schemas.microsoft.com/office/drawing/2014/main" id="{F7EB1EF6-618D-4A53-8137-F0507666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新規要求</a:t>
            </a:r>
          </a:p>
        </p:txBody>
      </p:sp>
      <p:sp>
        <p:nvSpPr>
          <p:cNvPr id="11" name="d-h-3">
            <a:extLst xmlns:a="http://schemas.openxmlformats.org/drawingml/2006/main">
              <a:ext uri="{FF2B5EF4-FFF2-40B4-BE49-F238E27FC236}">
                <a16:creationId xmlns:a16="http://schemas.microsoft.com/office/drawing/2014/main" id="{E120499E-582A-4AE5-81A1-650FB4B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d-ht-3">
            <a:extLst xmlns:a="http://schemas.openxmlformats.org/drawingml/2006/main">
              <a:ext uri="{FF2B5EF4-FFF2-40B4-BE49-F238E27FC236}">
                <a16:creationId xmlns:a16="http://schemas.microsoft.com/office/drawing/2014/main" id="{0BC5050C-53E5-45B9-A407-7AD5AE36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設計判断</a:t>
            </a:r>
          </a:p>
        </p:txBody>
      </p:sp>
      <p:sp>
        <p:nvSpPr>
          <p:cNvPr id="13" name="d-cell-0-0">
            <a:extLst xmlns:a="http://schemas.openxmlformats.org/drawingml/2006/main">
              <a:ext uri="{FF2B5EF4-FFF2-40B4-BE49-F238E27FC236}">
                <a16:creationId xmlns:a16="http://schemas.microsoft.com/office/drawing/2014/main" id="{077C5F0F-28FC-4027-8E2E-029BE306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d-text-0-0">
            <a:extLst xmlns:a="http://schemas.openxmlformats.org/drawingml/2006/main">
              <a:ext uri="{FF2B5EF4-FFF2-40B4-BE49-F238E27FC236}">
                <a16:creationId xmlns:a16="http://schemas.microsoft.com/office/drawing/2014/main" id="{85C59B8A-2AB2-4685-9FFD-6F6BB53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code 1を表示</a:t>
            </a:r>
          </a:p>
        </p:txBody>
      </p:sp>
      <p:sp>
        <p:nvSpPr>
          <p:cNvPr id="15" name="d-cell-0-1">
            <a:extLst xmlns:a="http://schemas.openxmlformats.org/drawingml/2006/main">
              <a:ext uri="{FF2B5EF4-FFF2-40B4-BE49-F238E27FC236}">
                <a16:creationId xmlns:a16="http://schemas.microsoft.com/office/drawing/2014/main" id="{0631AFAA-B76F-4D1F-907C-10714AF4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d-text-0-1">
            <a:extLst xmlns:a="http://schemas.openxmlformats.org/drawingml/2006/main">
              <a:ext uri="{FF2B5EF4-FFF2-40B4-BE49-F238E27FC236}">
                <a16:creationId xmlns:a16="http://schemas.microsoft.com/office/drawing/2014/main" id="{6978E0ED-81A3-4451-9D49-892FEC15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384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受付中</a:t>
            </a:r>
          </a:p>
        </p:txBody>
      </p:sp>
      <p:sp>
        <p:nvSpPr>
          <p:cNvPr id="17" name="d-cell-0-2">
            <a:extLst xmlns:a="http://schemas.openxmlformats.org/drawingml/2006/main">
              <a:ext uri="{FF2B5EF4-FFF2-40B4-BE49-F238E27FC236}">
                <a16:creationId xmlns:a16="http://schemas.microsoft.com/office/drawing/2014/main" id="{72DB5023-A38C-4A23-8C67-A67D9C6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146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d-text-0-2">
            <a:extLst xmlns:a="http://schemas.openxmlformats.org/drawingml/2006/main">
              <a:ext uri="{FF2B5EF4-FFF2-40B4-BE49-F238E27FC236}">
                <a16:creationId xmlns:a16="http://schemas.microsoft.com/office/drawing/2014/main" id="{73D280EF-F348-40D0-9E8D-CAC1758E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384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処理中</a:t>
            </a:r>
          </a:p>
        </p:txBody>
      </p:sp>
      <p:sp>
        <p:nvSpPr>
          <p:cNvPr id="19" name="d-cell-0-3">
            <a:extLst xmlns:a="http://schemas.openxmlformats.org/drawingml/2006/main">
              <a:ext uri="{FF2B5EF4-FFF2-40B4-BE49-F238E27FC236}">
                <a16:creationId xmlns:a16="http://schemas.microsoft.com/office/drawing/2014/main" id="{E8278938-D1E8-470C-A5A3-7C35D004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d-text-0-3">
            <a:extLst xmlns:a="http://schemas.openxmlformats.org/drawingml/2006/main">
              <a:ext uri="{FF2B5EF4-FFF2-40B4-BE49-F238E27FC236}">
                <a16:creationId xmlns:a16="http://schemas.microsoft.com/office/drawing/2014/main" id="{3062BB23-121D-4AD1-997C-B8B85162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384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変更</a:t>
            </a:r>
          </a:p>
        </p:txBody>
      </p:sp>
      <p:sp>
        <p:nvSpPr>
          <p:cNvPr id="21" name="d-cell-1-0">
            <a:extLst xmlns:a="http://schemas.openxmlformats.org/drawingml/2006/main">
              <a:ext uri="{FF2B5EF4-FFF2-40B4-BE49-F238E27FC236}">
                <a16:creationId xmlns:a16="http://schemas.microsoft.com/office/drawing/2014/main" id="{4787DA33-BFB1-4D99-A94C-B794029C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d-text-1-0">
            <a:extLst xmlns:a="http://schemas.openxmlformats.org/drawingml/2006/main">
              <a:ext uri="{FF2B5EF4-FFF2-40B4-BE49-F238E27FC236}">
                <a16:creationId xmlns:a16="http://schemas.microsoft.com/office/drawing/2014/main" id="{5F1C393B-303D-4DB4-9ADB-9FA6B5A1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API consumerを維持</a:t>
            </a:r>
          </a:p>
        </p:txBody>
      </p:sp>
      <p:sp>
        <p:nvSpPr>
          <p:cNvPr id="23" name="d-cell-1-1">
            <a:extLst xmlns:a="http://schemas.openxmlformats.org/drawingml/2006/main">
              <a:ext uri="{FF2B5EF4-FFF2-40B4-BE49-F238E27FC236}">
                <a16:creationId xmlns:a16="http://schemas.microsoft.com/office/drawing/2014/main" id="{411F4563-4806-4404-826B-E8422BC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d-text-1-1">
            <a:extLst xmlns:a="http://schemas.openxmlformats.org/drawingml/2006/main">
              <a:ext uri="{FF2B5EF4-FFF2-40B4-BE49-F238E27FC236}">
                <a16:creationId xmlns:a16="http://schemas.microsoft.com/office/drawing/2014/main" id="{A9935481-A202-46D9-8968-716735F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52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既存consumerあり</a:t>
            </a:r>
          </a:p>
        </p:txBody>
      </p:sp>
      <p:sp>
        <p:nvSpPr>
          <p:cNvPr id="25" name="d-cell-1-2">
            <a:extLst xmlns:a="http://schemas.openxmlformats.org/drawingml/2006/main">
              <a:ext uri="{FF2B5EF4-FFF2-40B4-BE49-F238E27FC236}">
                <a16:creationId xmlns:a16="http://schemas.microsoft.com/office/drawing/2014/main" id="{D82D19D4-32C8-4366-B855-F06A6C0C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d-text-1-2">
            <a:extLst xmlns:a="http://schemas.openxmlformats.org/drawingml/2006/main">
              <a:ext uri="{FF2B5EF4-FFF2-40B4-BE49-F238E27FC236}">
                <a16:creationId xmlns:a16="http://schemas.microsoft.com/office/drawing/2014/main" id="{78ADBB48-E4DA-4D4D-B347-8BF2D27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52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UIだけ変更</a:t>
            </a:r>
          </a:p>
        </p:txBody>
      </p:sp>
      <p:sp>
        <p:nvSpPr>
          <p:cNvPr id="27" name="d-cell-1-3">
            <a:extLst xmlns:a="http://schemas.openxmlformats.org/drawingml/2006/main">
              <a:ext uri="{FF2B5EF4-FFF2-40B4-BE49-F238E27FC236}">
                <a16:creationId xmlns:a16="http://schemas.microsoft.com/office/drawing/2014/main" id="{21E63D79-67E5-4B73-9B89-97EA3D3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d-text-1-3">
            <a:extLst xmlns:a="http://schemas.openxmlformats.org/drawingml/2006/main">
              <a:ext uri="{FF2B5EF4-FFF2-40B4-BE49-F238E27FC236}">
                <a16:creationId xmlns:a16="http://schemas.microsoft.com/office/drawing/2014/main" id="{FE490A73-98AF-491B-85D6-A51EF5C9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52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守る条件</a:t>
            </a:r>
          </a:p>
        </p:txBody>
      </p:sp>
      <p:sp>
        <p:nvSpPr>
          <p:cNvPr id="29" name="d-cell-2-0">
            <a:extLst xmlns:a="http://schemas.openxmlformats.org/drawingml/2006/main">
              <a:ext uri="{FF2B5EF4-FFF2-40B4-BE49-F238E27FC236}">
                <a16:creationId xmlns:a16="http://schemas.microsoft.com/office/drawing/2014/main" id="{9380FFED-6549-4FB8-90A1-E82C10B5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d-text-2-0">
            <a:extLst xmlns:a="http://schemas.openxmlformats.org/drawingml/2006/main">
              <a:ext uri="{FF2B5EF4-FFF2-40B4-BE49-F238E27FC236}">
                <a16:creationId xmlns:a16="http://schemas.microsoft.com/office/drawing/2014/main" id="{2BBABB16-6C8B-4477-816D-0E67E8A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未知コード</a:t>
            </a:r>
          </a:p>
        </p:txBody>
      </p:sp>
      <p:sp>
        <p:nvSpPr>
          <p:cNvPr id="31" name="d-cell-2-1">
            <a:extLst xmlns:a="http://schemas.openxmlformats.org/drawingml/2006/main">
              <a:ext uri="{FF2B5EF4-FFF2-40B4-BE49-F238E27FC236}">
                <a16:creationId xmlns:a16="http://schemas.microsoft.com/office/drawing/2014/main" id="{C7BDC60A-B185-44BE-80DA-CFF1A4E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d-text-2-1">
            <a:extLst xmlns:a="http://schemas.openxmlformats.org/drawingml/2006/main">
              <a:ext uri="{FF2B5EF4-FFF2-40B4-BE49-F238E27FC236}">
                <a16:creationId xmlns:a16="http://schemas.microsoft.com/office/drawing/2014/main" id="{25737AB5-FC31-4751-A774-560FD6A6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671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仕様なし</a:t>
            </a:r>
          </a:p>
        </p:txBody>
      </p:sp>
      <p:sp>
        <p:nvSpPr>
          <p:cNvPr id="33" name="d-cell-2-2">
            <a:extLst xmlns:a="http://schemas.openxmlformats.org/drawingml/2006/main">
              <a:ext uri="{FF2B5EF4-FFF2-40B4-BE49-F238E27FC236}">
                <a16:creationId xmlns:a16="http://schemas.microsoft.com/office/drawing/2014/main" id="{0FB0D5E5-E643-43DD-91DE-093632F4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d-text-2-2">
            <a:extLst xmlns:a="http://schemas.openxmlformats.org/drawingml/2006/main">
              <a:ext uri="{FF2B5EF4-FFF2-40B4-BE49-F238E27FC236}">
                <a16:creationId xmlns:a16="http://schemas.microsoft.com/office/drawing/2014/main" id="{08FAB552-90D9-4EA3-9A73-384EB532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671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不明を表示?</a:t>
            </a:r>
          </a:p>
        </p:txBody>
      </p:sp>
      <p:sp>
        <p:nvSpPr>
          <p:cNvPr id="35" name="d-cell-2-3">
            <a:extLst xmlns:a="http://schemas.openxmlformats.org/drawingml/2006/main">
              <a:ext uri="{FF2B5EF4-FFF2-40B4-BE49-F238E27FC236}">
                <a16:creationId xmlns:a16="http://schemas.microsoft.com/office/drawing/2014/main" id="{FEA23A90-5AF9-4C5A-8C41-6DEBE7F4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433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36" name="d-text-2-3">
            <a:extLst xmlns:a="http://schemas.openxmlformats.org/drawingml/2006/main">
              <a:ext uri="{FF2B5EF4-FFF2-40B4-BE49-F238E27FC236}">
                <a16:creationId xmlns:a16="http://schemas.microsoft.com/office/drawing/2014/main" id="{8C8B9BED-5C0E-49E8-8E28-6D4E8E58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671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B00"/>
                </a:solidFill>
              </a:defRPr>
            </a:pPr>
            <a:r>
              <a:rPr sz="1275" b="1">
                <a:solidFill>
                  <a:srgbClr val="D99B00"/>
                </a:solidFill>
              </a:rPr>
              <a:t>人間が判断</a:t>
            </a:r>
          </a:p>
        </p:txBody>
      </p:sp>
      <p:sp>
        <p:nvSpPr>
          <p:cNvPr id="37" name="d-gate">
            <a:extLst xmlns:a="http://schemas.openxmlformats.org/drawingml/2006/main">
              <a:ext uri="{FF2B5EF4-FFF2-40B4-BE49-F238E27FC236}">
                <a16:creationId xmlns:a16="http://schemas.microsoft.com/office/drawing/2014/main" id="{B687E74F-EA64-4E74-9939-C029C5E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8" name="d-gate-title">
            <a:extLst xmlns:a="http://schemas.openxmlformats.org/drawingml/2006/main">
              <a:ext uri="{FF2B5EF4-FFF2-40B4-BE49-F238E27FC236}">
                <a16:creationId xmlns:a16="http://schemas.microsoft.com/office/drawing/2014/main" id="{4793854E-DAE9-4CDC-A413-E8E82C40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AIが確認すること</a:t>
            </a:r>
          </a:p>
        </p:txBody>
      </p:sp>
      <p:sp>
        <p:nvSpPr>
          <p:cNvPr id="39" name="d-gate-body">
            <a:extLst xmlns:a="http://schemas.openxmlformats.org/drawingml/2006/main">
              <a:ext uri="{FF2B5EF4-FFF2-40B4-BE49-F238E27FC236}">
                <a16:creationId xmlns:a16="http://schemas.microsoft.com/office/drawing/2014/main" id="{30436271-7D88-49C2-8BD0-68B47EF5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入力・期待値・証拠・合否基準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ケース作成の可否・不足定義・追跡関係</a:t>
            </a:r>
          </a:p>
        </p:txBody>
      </p:sp>
      <p:sp>
        <p:nvSpPr>
          <p:cNvPr id="40" name="d-human">
            <a:extLst xmlns:a="http://schemas.openxmlformats.org/drawingml/2006/main">
              <a:ext uri="{FF2B5EF4-FFF2-40B4-BE49-F238E27FC236}">
                <a16:creationId xmlns:a16="http://schemas.microsoft.com/office/drawing/2014/main" id="{C6888D4D-B2AE-4476-BDC8-BBF7814B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41" name="d-human-title">
            <a:extLst xmlns:a="http://schemas.openxmlformats.org/drawingml/2006/main">
              <a:ext uri="{FF2B5EF4-FFF2-40B4-BE49-F238E27FC236}">
                <a16:creationId xmlns:a16="http://schemas.microsoft.com/office/drawing/2014/main" id="{E34921B1-EC9D-4608-A2B2-8083066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B00"/>
                </a:solidFill>
              </a:defRPr>
            </a:pPr>
            <a:r>
              <a:rPr sz="1650" b="1">
                <a:solidFill>
                  <a:srgbClr val="D99B00"/>
                </a:solidFill>
              </a:rPr>
              <a:t>人間が決めること</a:t>
            </a:r>
          </a:p>
        </p:txBody>
      </p:sp>
      <p:sp>
        <p:nvSpPr>
          <p:cNvPr id="42" name="d-human-body">
            <a:extLst xmlns:a="http://schemas.openxmlformats.org/drawingml/2006/main">
              <a:ext uri="{FF2B5EF4-FFF2-40B4-BE49-F238E27FC236}">
                <a16:creationId xmlns:a16="http://schemas.microsoft.com/office/drawing/2014/main" id="{29C60A8A-2654-4812-81EC-1AE689F9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変更の意味・守る条件・影響範囲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設計完了・補正・保留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935CDCB-FF89-4BC5-9821-24CF5DB6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E2F8B13F-67E6-41C7-B9E8-20E30F26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45" name="page">
            <a:extLst xmlns:a="http://schemas.openxmlformats.org/drawingml/2006/main">
              <a:ext uri="{FF2B5EF4-FFF2-40B4-BE49-F238E27FC236}">
                <a16:creationId xmlns:a16="http://schemas.microsoft.com/office/drawing/2014/main" id="{3F5F6FB8-486F-4755-A2FF-43AB4BED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9746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3D231B1-C013-4630-A019-F7FC02E9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テスト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D4CAF8CD-AEDB-4D2F-804B-C64201CF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承認した範囲で、AIが実行支援と証拠付き評価を行う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804B8E35-9AEC-49CD-84E2-79A53277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AIが自動的にすべて実行するのではなく、人間の事前承認と許可された環境が前提です。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9F057D-AE31-4001-AD4A-0B23BF8E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est-human-pre">
            <a:extLst xmlns:a="http://schemas.openxmlformats.org/drawingml/2006/main">
              <a:ext uri="{FF2B5EF4-FFF2-40B4-BE49-F238E27FC236}">
                <a16:creationId xmlns:a16="http://schemas.microsoft.com/office/drawing/2014/main" id="{EC24823B-2BAF-439D-875C-A73B3FE1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429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6" name="test-human-pre-title">
            <a:extLst xmlns:a="http://schemas.openxmlformats.org/drawingml/2006/main">
              <a:ext uri="{FF2B5EF4-FFF2-40B4-BE49-F238E27FC236}">
                <a16:creationId xmlns:a16="http://schemas.microsoft.com/office/drawing/2014/main" id="{4807BC40-95FD-4067-915D-12DA8483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9B00"/>
                </a:solidFill>
              </a:defRPr>
            </a:pPr>
            <a:r>
              <a:rPr sz="1800" b="1">
                <a:solidFill>
                  <a:srgbClr val="D99B00"/>
                </a:solidFill>
              </a:rPr>
              <a:t>人間が事前に承認</a:t>
            </a:r>
          </a:p>
        </p:txBody>
      </p:sp>
      <p:sp>
        <p:nvSpPr>
          <p:cNvPr id="7" name="test-human-pre-body">
            <a:extLst xmlns:a="http://schemas.openxmlformats.org/drawingml/2006/main">
              <a:ext uri="{FF2B5EF4-FFF2-40B4-BE49-F238E27FC236}">
                <a16:creationId xmlns:a16="http://schemas.microsoft.com/office/drawing/2014/main" id="{E7399A57-1CC4-4724-9D4F-42AC2626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590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対象・範囲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入力データ・期待結果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合否基準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証拠の取得方法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環境・権限</a:t>
            </a:r>
          </a:p>
        </p:txBody>
      </p:sp>
      <p:sp>
        <p:nvSpPr>
          <p:cNvPr id="8" name="test-ai">
            <a:extLst xmlns:a="http://schemas.openxmlformats.org/drawingml/2006/main">
              <a:ext uri="{FF2B5EF4-FFF2-40B4-BE49-F238E27FC236}">
                <a16:creationId xmlns:a16="http://schemas.microsoft.com/office/drawing/2014/main" id="{5BC56E72-4E8B-4959-B9B6-630FCAB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429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test-ai-title">
            <a:extLst xmlns:a="http://schemas.openxmlformats.org/drawingml/2006/main">
              <a:ext uri="{FF2B5EF4-FFF2-40B4-BE49-F238E27FC236}">
                <a16:creationId xmlns:a16="http://schemas.microsoft.com/office/drawing/2014/main" id="{FC1AF097-AC9C-4E98-AFFF-A8D0B8FC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AIが許可環境で行う</a:t>
            </a:r>
          </a:p>
        </p:txBody>
      </p:sp>
      <p:sp>
        <p:nvSpPr>
          <p:cNvPr id="10" name="test-ai-body">
            <a:extLst xmlns:a="http://schemas.openxmlformats.org/drawingml/2006/main">
              <a:ext uri="{FF2B5EF4-FFF2-40B4-BE49-F238E27FC236}">
                <a16:creationId xmlns:a16="http://schemas.microsoft.com/office/drawing/2014/main" id="{94D51ED2-6A2A-4ED6-8D37-80618673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5908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承認済みケースの実行支援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UI操作・画面取得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画面・ログなどの証拠取得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期待値と実結果の比較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項目別評価・差異分類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再テスト結果の整理</a:t>
            </a:r>
          </a:p>
        </p:txBody>
      </p:sp>
      <p:sp>
        <p:nvSpPr>
          <p:cNvPr id="11" name="test-human-last">
            <a:extLst xmlns:a="http://schemas.openxmlformats.org/drawingml/2006/main">
              <a:ext uri="{FF2B5EF4-FFF2-40B4-BE49-F238E27FC236}">
                <a16:creationId xmlns:a16="http://schemas.microsoft.com/office/drawing/2014/main" id="{67D51566-F7D3-4E4B-8B05-991D26AA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3429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12" name="test-human-last-title">
            <a:extLst xmlns:a="http://schemas.openxmlformats.org/drawingml/2006/main">
              <a:ext uri="{FF2B5EF4-FFF2-40B4-BE49-F238E27FC236}">
                <a16:creationId xmlns:a16="http://schemas.microsoft.com/office/drawing/2014/main" id="{D86AA12F-163D-4027-BDF8-FD6A0868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9B00"/>
                </a:solidFill>
              </a:defRPr>
            </a:pPr>
            <a:r>
              <a:rPr sz="1800" b="1">
                <a:solidFill>
                  <a:srgbClr val="D99B00"/>
                </a:solidFill>
              </a:rPr>
              <a:t>人間が最後に判断</a:t>
            </a:r>
          </a:p>
        </p:txBody>
      </p:sp>
      <p:sp>
        <p:nvSpPr>
          <p:cNvPr id="13" name="test-human-last-body">
            <a:extLst xmlns:a="http://schemas.openxmlformats.org/drawingml/2006/main">
              <a:ext uri="{FF2B5EF4-FFF2-40B4-BE49-F238E27FC236}">
                <a16:creationId xmlns:a16="http://schemas.microsoft.com/office/drawing/2014/main" id="{2BEA3A3B-F5B8-48EC-AC1C-86643595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71850"/>
            <a:ext cx="2590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差異の意味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評価基準の妥当性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未実行項目の扱い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総合評価の受入可否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残余リスクの受入</a:t>
            </a:r>
          </a:p>
        </p:txBody>
      </p:sp>
      <p:sp>
        <p:nvSpPr>
          <p:cNvPr id="14" name="test-bottom">
            <a:extLst xmlns:a="http://schemas.openxmlformats.org/drawingml/2006/main">
              <a:ext uri="{FF2B5EF4-FFF2-40B4-BE49-F238E27FC236}">
                <a16:creationId xmlns:a16="http://schemas.microsoft.com/office/drawing/2014/main" id="{DD38092D-CBC8-4618-B967-CEE1397C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ハードコピー・ログ → 比較 → 項目別評価 → 総合評価 → 人間の受入判断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F5B62A5-310F-4DA7-9013-4A6614C7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D7C1758A-C7FC-4BA2-9A07-A6C4A9D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5592FEF0-CAFD-4467-8F43-43088E92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42626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85063773-FFF7-4C95-9B56-A299E6C3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判断基準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D40C7F6-21B2-4C71-A852-9B7651A2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人間は、AIの出力を4つの基準で確認する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520FE20B-90CE-472F-BBF0-4BDB60F5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どこかで判断できなければ、次の段階へ進めず、差戻し・保留・エスカレーションにします。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3CDF5CD-0B97-4183-A15A-BEEEA776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rule-0">
            <a:extLst xmlns:a="http://schemas.openxmlformats.org/drawingml/2006/main">
              <a:ext uri="{FF2B5EF4-FFF2-40B4-BE49-F238E27FC236}">
                <a16:creationId xmlns:a16="http://schemas.microsoft.com/office/drawing/2014/main" id="{607DCFE4-811D-4FBF-8704-2E220001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10058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rule-num-0">
            <a:extLst xmlns:a="http://schemas.openxmlformats.org/drawingml/2006/main">
              <a:ext uri="{FF2B5EF4-FFF2-40B4-BE49-F238E27FC236}">
                <a16:creationId xmlns:a16="http://schemas.microsoft.com/office/drawing/2014/main" id="{83D829B6-2071-4775-9511-68F9945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431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rule-n-0">
            <a:extLst xmlns:a="http://schemas.openxmlformats.org/drawingml/2006/main">
              <a:ext uri="{FF2B5EF4-FFF2-40B4-BE49-F238E27FC236}">
                <a16:creationId xmlns:a16="http://schemas.microsoft.com/office/drawing/2014/main" id="{8C9190F4-9F9E-4D5E-A78E-1D5AD620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ule-h-0">
            <a:extLst xmlns:a="http://schemas.openxmlformats.org/drawingml/2006/main">
              <a:ext uri="{FF2B5EF4-FFF2-40B4-BE49-F238E27FC236}">
                <a16:creationId xmlns:a16="http://schemas.microsoft.com/office/drawing/2014/main" id="{B80D86B7-22D8-49CC-BC88-098865C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0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根拠があるか</a:t>
            </a:r>
          </a:p>
        </p:txBody>
      </p:sp>
      <p:sp>
        <p:nvSpPr>
          <p:cNvPr id="9" name="rule-b-0">
            <a:extLst xmlns:a="http://schemas.openxmlformats.org/drawingml/2006/main">
              <a:ext uri="{FF2B5EF4-FFF2-40B4-BE49-F238E27FC236}">
                <a16:creationId xmlns:a16="http://schemas.microsoft.com/office/drawing/2014/main" id="{3F214C4D-5181-4F9B-AF14-C5A157EC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対象・結果・判断に根拠が結び付いているか</a:t>
            </a:r>
          </a:p>
        </p:txBody>
      </p:sp>
      <p:sp>
        <p:nvSpPr>
          <p:cNvPr id="10" name="rule-1">
            <a:extLst xmlns:a="http://schemas.openxmlformats.org/drawingml/2006/main">
              <a:ext uri="{FF2B5EF4-FFF2-40B4-BE49-F238E27FC236}">
                <a16:creationId xmlns:a16="http://schemas.microsoft.com/office/drawing/2014/main" id="{11CB9550-49BF-46E9-AB46-76D4214B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10058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rule-num-1">
            <a:extLst xmlns:a="http://schemas.openxmlformats.org/drawingml/2006/main">
              <a:ext uri="{FF2B5EF4-FFF2-40B4-BE49-F238E27FC236}">
                <a16:creationId xmlns:a16="http://schemas.microsoft.com/office/drawing/2014/main" id="{C65A3A97-78BA-4CEA-8EBD-C240AF46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861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rule-n-1">
            <a:extLst xmlns:a="http://schemas.openxmlformats.org/drawingml/2006/main">
              <a:ext uri="{FF2B5EF4-FFF2-40B4-BE49-F238E27FC236}">
                <a16:creationId xmlns:a16="http://schemas.microsoft.com/office/drawing/2014/main" id="{EE97CEE7-98DF-4B2C-BAED-1F3C23F1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62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ule-h-1">
            <a:extLst xmlns:a="http://schemas.openxmlformats.org/drawingml/2006/main">
              <a:ext uri="{FF2B5EF4-FFF2-40B4-BE49-F238E27FC236}">
                <a16:creationId xmlns:a16="http://schemas.microsoft.com/office/drawing/2014/main" id="{C38B614E-3D99-48A3-BE39-4EEAEC54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432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定義されているか</a:t>
            </a:r>
          </a:p>
        </p:txBody>
      </p:sp>
      <p:sp>
        <p:nvSpPr>
          <p:cNvPr id="14" name="rule-b-1">
            <a:extLst xmlns:a="http://schemas.openxmlformats.org/drawingml/2006/main">
              <a:ext uri="{FF2B5EF4-FFF2-40B4-BE49-F238E27FC236}">
                <a16:creationId xmlns:a16="http://schemas.microsoft.com/office/drawing/2014/main" id="{2129D645-2A2E-4264-9299-518A980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623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期待値・判定基準・担当者・次の行動があるか</a:t>
            </a:r>
          </a:p>
        </p:txBody>
      </p:sp>
      <p:sp>
        <p:nvSpPr>
          <p:cNvPr id="15" name="rule-2">
            <a:extLst xmlns:a="http://schemas.openxmlformats.org/drawingml/2006/main">
              <a:ext uri="{FF2B5EF4-FFF2-40B4-BE49-F238E27FC236}">
                <a16:creationId xmlns:a16="http://schemas.microsoft.com/office/drawing/2014/main" id="{F2296AC8-A11E-4907-9C6C-F5BA893B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0058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rule-num-2">
            <a:extLst xmlns:a="http://schemas.openxmlformats.org/drawingml/2006/main">
              <a:ext uri="{FF2B5EF4-FFF2-40B4-BE49-F238E27FC236}">
                <a16:creationId xmlns:a16="http://schemas.microsoft.com/office/drawing/2014/main" id="{378EB7FB-7374-474A-B773-1FB00D54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290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rule-n-2">
            <a:extLst xmlns:a="http://schemas.openxmlformats.org/drawingml/2006/main">
              <a:ext uri="{FF2B5EF4-FFF2-40B4-BE49-F238E27FC236}">
                <a16:creationId xmlns:a16="http://schemas.microsoft.com/office/drawing/2014/main" id="{4493003C-610E-407D-9C18-622E3AE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05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ule-h-2">
            <a:extLst xmlns:a="http://schemas.openxmlformats.org/drawingml/2006/main">
              <a:ext uri="{FF2B5EF4-FFF2-40B4-BE49-F238E27FC236}">
                <a16:creationId xmlns:a16="http://schemas.microsoft.com/office/drawing/2014/main" id="{8DB4DC96-5BA5-4A4F-B399-5421B2F1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862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整合しているか</a:t>
            </a:r>
          </a:p>
        </p:txBody>
      </p:sp>
      <p:sp>
        <p:nvSpPr>
          <p:cNvPr id="19" name="rule-b-2">
            <a:extLst xmlns:a="http://schemas.openxmlformats.org/drawingml/2006/main">
              <a:ext uri="{FF2B5EF4-FFF2-40B4-BE49-F238E27FC236}">
                <a16:creationId xmlns:a16="http://schemas.microsoft.com/office/drawing/2014/main" id="{B84375D1-2113-49A4-8811-3688C84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仕様・挙動・要求・設計がつながっているか</a:t>
            </a:r>
          </a:p>
        </p:txBody>
      </p:sp>
      <p:sp>
        <p:nvSpPr>
          <p:cNvPr id="20" name="rule-3">
            <a:extLst xmlns:a="http://schemas.openxmlformats.org/drawingml/2006/main">
              <a:ext uri="{FF2B5EF4-FFF2-40B4-BE49-F238E27FC236}">
                <a16:creationId xmlns:a16="http://schemas.microsoft.com/office/drawing/2014/main" id="{1ED0DE85-899A-4D36-A9AF-07C3EF66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0058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21" name="rule-num-3">
            <a:extLst xmlns:a="http://schemas.openxmlformats.org/drawingml/2006/main">
              <a:ext uri="{FF2B5EF4-FFF2-40B4-BE49-F238E27FC236}">
                <a16:creationId xmlns:a16="http://schemas.microsoft.com/office/drawing/2014/main" id="{302A3C91-6054-465D-9440-8124B36C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720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9B00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22" name="rule-n-3">
            <a:extLst xmlns:a="http://schemas.openxmlformats.org/drawingml/2006/main">
              <a:ext uri="{FF2B5EF4-FFF2-40B4-BE49-F238E27FC236}">
                <a16:creationId xmlns:a16="http://schemas.microsoft.com/office/drawing/2014/main" id="{D19AA3F5-A079-49C1-BF29-48AAE5C5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ule-h-3">
            <a:extLst xmlns:a="http://schemas.openxmlformats.org/drawingml/2006/main">
              <a:ext uri="{FF2B5EF4-FFF2-40B4-BE49-F238E27FC236}">
                <a16:creationId xmlns:a16="http://schemas.microsoft.com/office/drawing/2014/main" id="{38AAF424-B7E4-4BFB-BAEF-5853F596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29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B00"/>
                </a:solidFill>
              </a:defRPr>
            </a:pPr>
            <a:r>
              <a:rPr sz="1650" b="1">
                <a:solidFill>
                  <a:srgbClr val="D99B00"/>
                </a:solidFill>
              </a:rPr>
              <a:t>リスクを受け入れるか</a:t>
            </a:r>
          </a:p>
        </p:txBody>
      </p:sp>
      <p:sp>
        <p:nvSpPr>
          <p:cNvPr id="24" name="rule-b-3">
            <a:extLst xmlns:a="http://schemas.openxmlformats.org/drawingml/2006/main">
              <a:ext uri="{FF2B5EF4-FFF2-40B4-BE49-F238E27FC236}">
                <a16:creationId xmlns:a16="http://schemas.microsoft.com/office/drawing/2014/main" id="{95B8207C-55E4-4222-9538-DC87B427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482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不明点・差異・未実行・残余リスクを受け入れられるか</a:t>
            </a:r>
          </a:p>
        </p:txBody>
      </p:sp>
      <p:sp>
        <p:nvSpPr>
          <p:cNvPr id="25" name="rule-bottom">
            <a:extLst xmlns:a="http://schemas.openxmlformats.org/drawingml/2006/main">
              <a:ext uri="{FF2B5EF4-FFF2-40B4-BE49-F238E27FC236}">
                <a16:creationId xmlns:a16="http://schemas.microsoft.com/office/drawing/2014/main" id="{ECA1B67C-0BDC-43D3-953E-2E67F99D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3B45"/>
                </a:solidFill>
              </a:defRPr>
            </a:pPr>
            <a:r>
              <a:rPr sz="1650" b="1">
                <a:solidFill>
                  <a:srgbClr val="C53B45"/>
                </a:solidFill>
              </a:rPr>
              <a:t>判断できない項目は、差戻し・保留・エスカレーションにする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25E2F7C-3BDD-419B-B1B2-DFB4DBBE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C6AD5830-52E5-4C20-8108-67BA0271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F73ED933-B402-4813-9C45-E817EAFE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41222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81D75081-C9AF-4B54-944B-98D16EFD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明日からの使い方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90B06A8-0BB4-40D1-B5D2-484D097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AIに判断材料を作らせ、人間が判断する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40C6D5F6-BCC9-4616-B7E7-D1DAF8E6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872"/>
                </a:solidFill>
              </a:defRPr>
            </a:pPr>
            <a:r>
              <a:rPr sz="1425" b="0">
                <a:solidFill>
                  <a:srgbClr val="606872"/>
                </a:solidFill>
              </a:rPr>
              <a:t>まず現状・目的・途中までの整理を渡し、AIの質問に答えながら次の成果物を具体化します。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7DC07F4-A277-4EE8-A04A-E4DD12A7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sum-ai">
            <a:extLst xmlns:a="http://schemas.openxmlformats.org/drawingml/2006/main">
              <a:ext uri="{FF2B5EF4-FFF2-40B4-BE49-F238E27FC236}">
                <a16:creationId xmlns:a16="http://schemas.microsoft.com/office/drawing/2014/main" id="{CE728893-7415-4AAB-913C-5B0015DC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sum-ai-title">
            <a:extLst xmlns:a="http://schemas.openxmlformats.org/drawingml/2006/main">
              <a:ext uri="{FF2B5EF4-FFF2-40B4-BE49-F238E27FC236}">
                <a16:creationId xmlns:a16="http://schemas.microsoft.com/office/drawing/2014/main" id="{45BA2DB8-5752-4389-B5A6-AA4ACEA2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AIに任せること</a:t>
            </a:r>
          </a:p>
        </p:txBody>
      </p:sp>
      <p:sp>
        <p:nvSpPr>
          <p:cNvPr id="7" name="sum-ai-body">
            <a:extLst xmlns:a="http://schemas.openxmlformats.org/drawingml/2006/main">
              <a:ext uri="{FF2B5EF4-FFF2-40B4-BE49-F238E27FC236}">
                <a16:creationId xmlns:a16="http://schemas.microsoft.com/office/drawing/2014/main" id="{D7B2D407-0BD7-4162-A0F1-57EEE241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情報整理・比較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不足・矛盾・想定差の検出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質問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作業案・成果物案の作成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承認済み作業の支援</a:t>
            </a:r>
          </a:p>
        </p:txBody>
      </p:sp>
      <p:sp>
        <p:nvSpPr>
          <p:cNvPr id="8" name="sum-human">
            <a:extLst xmlns:a="http://schemas.openxmlformats.org/drawingml/2006/main">
              <a:ext uri="{FF2B5EF4-FFF2-40B4-BE49-F238E27FC236}">
                <a16:creationId xmlns:a16="http://schemas.microsoft.com/office/drawing/2014/main" id="{A566A54C-3CC5-4A27-8D36-BE8E8943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99B00"/>
            </a:solidFill>
            <a:prstDash val="solid"/>
          </a:ln>
        </p:spPr>
      </p:sp>
      <p:sp>
        <p:nvSpPr>
          <p:cNvPr id="9" name="sum-human-title">
            <a:extLst xmlns:a="http://schemas.openxmlformats.org/drawingml/2006/main">
              <a:ext uri="{FF2B5EF4-FFF2-40B4-BE49-F238E27FC236}">
                <a16:creationId xmlns:a16="http://schemas.microsoft.com/office/drawing/2014/main" id="{47861367-33E2-41A1-84CE-2B0845F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384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9B00"/>
                </a:solidFill>
              </a:defRPr>
            </a:pPr>
            <a:r>
              <a:rPr sz="1950" b="1">
                <a:solidFill>
                  <a:srgbClr val="D99B00"/>
                </a:solidFill>
              </a:rPr>
              <a:t>人間が手放さないこと</a:t>
            </a:r>
          </a:p>
        </p:txBody>
      </p:sp>
      <p:sp>
        <p:nvSpPr>
          <p:cNvPr id="10" name="sum-human-body">
            <a:extLst xmlns:a="http://schemas.openxmlformats.org/drawingml/2006/main">
              <a:ext uri="{FF2B5EF4-FFF2-40B4-BE49-F238E27FC236}">
                <a16:creationId xmlns:a16="http://schemas.microsoft.com/office/drawing/2014/main" id="{D599BDDD-0226-4848-A8B1-D437481F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86150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目的・期待値・意味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制約・優先順位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承認・差戻し・保留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変更の影響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残余リスクの判断</a:t>
            </a:r>
          </a:p>
        </p:txBody>
      </p:sp>
      <p:sp>
        <p:nvSpPr>
          <p:cNvPr id="11" name="sum-message">
            <a:extLst xmlns:a="http://schemas.openxmlformats.org/drawingml/2006/main">
              <a:ext uri="{FF2B5EF4-FFF2-40B4-BE49-F238E27FC236}">
                <a16:creationId xmlns:a16="http://schemas.microsoft.com/office/drawing/2014/main" id="{E52B34FC-4EFB-4AD9-8889-51B1240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14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sum-message-text">
            <a:extLst xmlns:a="http://schemas.openxmlformats.org/drawingml/2006/main">
              <a:ext uri="{FF2B5EF4-FFF2-40B4-BE49-F238E27FC236}">
                <a16:creationId xmlns:a16="http://schemas.microsoft.com/office/drawing/2014/main" id="{39D2A2FD-B3A5-4CD5-AEC2-BB24982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86450"/>
            <a:ext cx="861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AIに答えを決めさせず、対話で人間が判断できる状態を作る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3D2164-FD38-4351-9841-F610EF73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3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69A77690-04B1-402D-816B-87A1F2E2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XRefKit / 派生開発Workflow — 社内説明用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B309EDBA-1171-4B19-8B87-10B962E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6872"/>
                </a:solidFill>
              </a:defRPr>
            </a:pPr>
            <a:r>
              <a:rPr sz="900" b="0">
                <a:solidFill>
                  <a:srgbClr val="6068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1573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2026-08-15T16:15:43.3010000Z</dcterms:created>
  <dcterms:modified xsi:type="dcterms:W3CDTF">2026-08-15T16:15:43.3010000Z</dcterms:modified>
</coreProperties>
</file>