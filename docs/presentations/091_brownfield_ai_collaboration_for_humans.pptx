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61726561754aaf" /><Relationship Type="http://schemas.openxmlformats.org/officeDocument/2006/relationships/extended-properties" Target="/docProps/app.xml" Id="R0b82380493034353" /><Relationship Type="http://schemas.openxmlformats.org/officeDocument/2006/relationships/officeDocument" Target="/ppt/presentation.xml" Id="R824aa4425f5e40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f0d154a7b04e0b"/>
  </p:sldMasterIdLst>
  <p:notesMasterIdLst>
    <p:notesMasterId xmlns:r="http://schemas.openxmlformats.org/officeDocument/2006/relationships" r:id="Rd236028ea77a473f"/>
  </p:notesMasterIdLst>
  <p:sldIdLst>
    <p:sldId xmlns:r="http://schemas.openxmlformats.org/officeDocument/2006/relationships" id="256" r:id="R041be6df677e4adb"/>
    <p:sldId xmlns:r="http://schemas.openxmlformats.org/officeDocument/2006/relationships" id="257" r:id="Rdf319d0667a44f2a"/>
    <p:sldId xmlns:r="http://schemas.openxmlformats.org/officeDocument/2006/relationships" id="258" r:id="R03bb5235714e4889"/>
    <p:sldId xmlns:r="http://schemas.openxmlformats.org/officeDocument/2006/relationships" id="259" r:id="R2a70547743f3415a"/>
    <p:sldId xmlns:r="http://schemas.openxmlformats.org/officeDocument/2006/relationships" id="260" r:id="Rb64a520403684ba8"/>
    <p:sldId xmlns:r="http://schemas.openxmlformats.org/officeDocument/2006/relationships" id="261" r:id="R2fb6b7e731934a64"/>
    <p:sldId xmlns:r="http://schemas.openxmlformats.org/officeDocument/2006/relationships" id="262" r:id="R53e8cbeb578d47a8"/>
    <p:sldId xmlns:r="http://schemas.openxmlformats.org/officeDocument/2006/relationships" id="263" r:id="Rb891bf476f2343c2"/>
    <p:sldId xmlns:r="http://schemas.openxmlformats.org/officeDocument/2006/relationships" id="264" r:id="Rf90c7670de44401e"/>
    <p:sldId xmlns:r="http://schemas.openxmlformats.org/officeDocument/2006/relationships" id="265" r:id="R7eada9a29fad41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f515789e8747cd" /><Relationship Type="http://schemas.openxmlformats.org/officeDocument/2006/relationships/slideMaster" Target="/ppt/slideMasters/slideMaster1.xml" Id="R86f0d154a7b04e0b" /><Relationship Type="http://schemas.openxmlformats.org/officeDocument/2006/relationships/notesMaster" Target="/ppt/notesMasters/notesMaster1.xml" Id="Rd236028ea77a473f" /><Relationship Type="http://schemas.openxmlformats.org/officeDocument/2006/relationships/presProps" Target="/ppt/presProps.xml" Id="R077c9169fd9e4a30" /><Relationship Type="http://schemas.openxmlformats.org/officeDocument/2006/relationships/tableStyles" Target="/ppt/tableStyles.xml" Id="R283bab6ef9e344bc" /><Relationship Type="http://schemas.openxmlformats.org/officeDocument/2006/relationships/slide" Target="/ppt/slides/slide1.xml" Id="R041be6df677e4adb" /><Relationship Type="http://schemas.openxmlformats.org/officeDocument/2006/relationships/slide" Target="/ppt/slides/slide2.xml" Id="Rdf319d0667a44f2a" /><Relationship Type="http://schemas.openxmlformats.org/officeDocument/2006/relationships/slide" Target="/ppt/slides/slide3.xml" Id="R03bb5235714e4889" /><Relationship Type="http://schemas.openxmlformats.org/officeDocument/2006/relationships/slide" Target="/ppt/slides/slide4.xml" Id="R2a70547743f3415a" /><Relationship Type="http://schemas.openxmlformats.org/officeDocument/2006/relationships/slide" Target="/ppt/slides/slide5.xml" Id="Rb64a520403684ba8" /><Relationship Type="http://schemas.openxmlformats.org/officeDocument/2006/relationships/slide" Target="/ppt/slides/slide6.xml" Id="R2fb6b7e731934a64" /><Relationship Type="http://schemas.openxmlformats.org/officeDocument/2006/relationships/slide" Target="/ppt/slides/slide7.xml" Id="R53e8cbeb578d47a8" /><Relationship Type="http://schemas.openxmlformats.org/officeDocument/2006/relationships/slide" Target="/ppt/slides/slide8.xml" Id="Rb891bf476f2343c2" /><Relationship Type="http://schemas.openxmlformats.org/officeDocument/2006/relationships/slide" Target="/ppt/slides/slide9.xml" Id="Rf90c7670de44401e" /><Relationship Type="http://schemas.openxmlformats.org/officeDocument/2006/relationships/slide" Target="/ppt/slides/slide10.xml" Id="R7eada9a29fad41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c51da2857149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b11144699c4aee" /><Relationship Type="http://schemas.openxmlformats.org/officeDocument/2006/relationships/notesMaster" Target="/ppt/notesMasters/notesMaster1.xml" Id="R3ebf189a57ef4e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05b9638b964bf6" /><Relationship Type="http://schemas.openxmlformats.org/officeDocument/2006/relationships/notesMaster" Target="/ppt/notesMasters/notesMaster1.xml" Id="R430cc61a996342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9e8ec301184274" /><Relationship Type="http://schemas.openxmlformats.org/officeDocument/2006/relationships/notesMaster" Target="/ppt/notesMasters/notesMaster1.xml" Id="R59c83bc3d8764d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5b4359566249e5" /><Relationship Type="http://schemas.openxmlformats.org/officeDocument/2006/relationships/notesMaster" Target="/ppt/notesMasters/notesMaster1.xml" Id="R8ccf5590e3b84b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9c541798f349fa" /><Relationship Type="http://schemas.openxmlformats.org/officeDocument/2006/relationships/notesMaster" Target="/ppt/notesMasters/notesMaster1.xml" Id="Rd27e2f871abd43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d9196332084e31" /><Relationship Type="http://schemas.openxmlformats.org/officeDocument/2006/relationships/notesMaster" Target="/ppt/notesMasters/notesMaster1.xml" Id="R0861bb7f411f48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6d504c873a4697" /><Relationship Type="http://schemas.openxmlformats.org/officeDocument/2006/relationships/notesMaster" Target="/ppt/notesMasters/notesMaster1.xml" Id="Rbe1d4e9d4e3d4c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1b7d1733004afb" /><Relationship Type="http://schemas.openxmlformats.org/officeDocument/2006/relationships/notesMaster" Target="/ppt/notesMasters/notesMaster1.xml" Id="R14137e46fa904d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857556540f4955" /><Relationship Type="http://schemas.openxmlformats.org/officeDocument/2006/relationships/notesMaster" Target="/ppt/notesMasters/notesMaster1.xml" Id="R7f5ceca6e76540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58f37e969f400d" /><Relationship Type="http://schemas.openxmlformats.org/officeDocument/2006/relationships/notesMaster" Target="/ppt/notesMasters/notesMaster1.xml" Id="R61fc654fb74f48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ed1402f784a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986ee4a27b4634" /><Relationship Type="http://schemas.openxmlformats.org/officeDocument/2006/relationships/slideLayout" Target="/ppt/slideLayouts/slideLayout1.xml" Id="R9fd191409e0d49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d191409e0d49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97af15c66445b" /><Relationship Type="http://schemas.openxmlformats.org/officeDocument/2006/relationships/notesSlide" Target="/ppt/notesSlides/notesSlide1.xml" Id="Rcb28eccf293c49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6eb76f6724f4b" /><Relationship Type="http://schemas.openxmlformats.org/officeDocument/2006/relationships/notesSlide" Target="/ppt/notesSlides/notesSlide2.xml" Id="Recd04c6233fb45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b6ce71cd3456b" /><Relationship Type="http://schemas.openxmlformats.org/officeDocument/2006/relationships/notesSlide" Target="/ppt/notesSlides/notesSlide3.xml" Id="R4adf02941bb142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16ed2b16e47a0" /><Relationship Type="http://schemas.openxmlformats.org/officeDocument/2006/relationships/notesSlide" Target="/ppt/notesSlides/notesSlide4.xml" Id="R9393862fb0104a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0bc440df04d91" /><Relationship Type="http://schemas.openxmlformats.org/officeDocument/2006/relationships/notesSlide" Target="/ppt/notesSlides/notesSlide5.xml" Id="R5257ca90c91a4f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90a306d7e4070" /><Relationship Type="http://schemas.openxmlformats.org/officeDocument/2006/relationships/notesSlide" Target="/ppt/notesSlides/notesSlide6.xml" Id="R86b3ac7beea04e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ad117b9cb4a01" /><Relationship Type="http://schemas.openxmlformats.org/officeDocument/2006/relationships/notesSlide" Target="/ppt/notesSlides/notesSlide7.xml" Id="R07f61068eaac4e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b9bec864340f5" /><Relationship Type="http://schemas.openxmlformats.org/officeDocument/2006/relationships/notesSlide" Target="/ppt/notesSlides/notesSlide8.xml" Id="R70ba221b3e7e46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fd5c16d644ee1" /><Relationship Type="http://schemas.openxmlformats.org/officeDocument/2006/relationships/notesSlide" Target="/ppt/notesSlides/notesSlide9.xml" Id="Re6361dc65cbf48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a3bfc67934a57" /><Relationship Type="http://schemas.openxmlformats.org/officeDocument/2006/relationships/notesSlide" Target="/ppt/notesSlides/notesSlide10.xml" Id="R80f28f36126b4e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bar">
            <a:extLst xmlns:a="http://schemas.openxmlformats.org/drawingml/2006/main">
              <a:ext uri="{FF2B5EF4-FFF2-40B4-BE49-F238E27FC236}">
                <a16:creationId xmlns:a16="http://schemas.microsoft.com/office/drawing/2014/main" id="{348F0414-B8D0-486D-9861-67502310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85B7866-26D3-4EA1-880D-739B6735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派生開発 × AI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7E188D0-30A7-430E-AD0D-8430818E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76350"/>
            <a:ext cx="647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AIとやり取りしながら</a:t>
            </a:r>
          </a:p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派生開発を進める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980BC77F-59E4-484F-A468-20692ABE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872"/>
                </a:solidFill>
              </a:defRPr>
            </a:pPr>
            <a:r>
              <a:rPr sz="1800" b="0">
                <a:solidFill>
                  <a:srgbClr val="606872"/>
                </a:solidFill>
              </a:rPr>
              <a:t>AIとの協業で進める派生開発Workflowの実務</a:t>
            </a:r>
          </a:p>
        </p:txBody>
      </p:sp>
      <p:sp>
        <p:nvSpPr>
          <p:cNvPr id="5" name="cover-box">
            <a:extLst xmlns:a="http://schemas.openxmlformats.org/drawingml/2006/main">
              <a:ext uri="{FF2B5EF4-FFF2-40B4-BE49-F238E27FC236}">
                <a16:creationId xmlns:a16="http://schemas.microsoft.com/office/drawing/2014/main" id="{D49108B2-9459-4A77-BE11-B0AEA3D6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14450"/>
            <a:ext cx="3619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6" name="cover-box-title">
            <a:extLst xmlns:a="http://schemas.openxmlformats.org/drawingml/2006/main">
              <a:ext uri="{FF2B5EF4-FFF2-40B4-BE49-F238E27FC236}">
                <a16:creationId xmlns:a16="http://schemas.microsoft.com/office/drawing/2014/main" id="{182FB7FE-1C13-4DF2-BDB0-93B9AC8E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7640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この資料で共有すること</a:t>
            </a:r>
          </a:p>
        </p:txBody>
      </p:sp>
      <p:sp>
        <p:nvSpPr>
          <p:cNvPr id="7" name="cover-questions">
            <a:extLst xmlns:a="http://schemas.openxmlformats.org/drawingml/2006/main">
              <a:ext uri="{FF2B5EF4-FFF2-40B4-BE49-F238E27FC236}">
                <a16:creationId xmlns:a16="http://schemas.microsoft.com/office/drawing/2014/main" id="{1F3F2D04-9242-4409-AF39-5B60D06C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285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AIへの依頼の出し方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AIの出力の受け取り方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人間との判断の分担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次のフェーズへの進め方</a:t>
            </a:r>
          </a:p>
        </p:txBody>
      </p:sp>
      <p:sp>
        <p:nvSpPr>
          <p:cNvPr id="8" name="cover-takeaway">
            <a:extLst xmlns:a="http://schemas.openxmlformats.org/drawingml/2006/main">
              <a:ext uri="{FF2B5EF4-FFF2-40B4-BE49-F238E27FC236}">
                <a16:creationId xmlns:a16="http://schemas.microsoft.com/office/drawing/2014/main" id="{94F8474C-632B-4AE4-BD8C-C70D2B66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AIの出力は完了ではなく、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人間が判定するための材料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C91EB92-19D9-41F4-B48C-3483F51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40F670DF-8A5E-42B1-8E3E-6A0BC193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How to use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67957148-6F86-4189-89DF-F2F60F42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555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93BE9918-34EC-4E70-A04D-D981544C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XDDPの考え方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45C6045B-3FC5-461F-86CE-6631F085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派生開発は4つの問いで整理する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DA19208F-D209-4776-9D5F-A404BE2C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難しい帳票から始めず、変更理由・変更内容・変更箇所・変更方法を順に明らかにします。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E7A094D-A4C0-47CE-80BD-07D250F3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xddp-0">
            <a:extLst xmlns:a="http://schemas.openxmlformats.org/drawingml/2006/main">
              <a:ext uri="{FF2B5EF4-FFF2-40B4-BE49-F238E27FC236}">
                <a16:creationId xmlns:a16="http://schemas.microsoft.com/office/drawing/2014/main" id="{FBC84B62-CCAA-48FC-82AD-56907107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4384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xddp-num-0">
            <a:extLst xmlns:a="http://schemas.openxmlformats.org/drawingml/2006/main">
              <a:ext uri="{FF2B5EF4-FFF2-40B4-BE49-F238E27FC236}">
                <a16:creationId xmlns:a16="http://schemas.microsoft.com/office/drawing/2014/main" id="{BB8AD753-8696-4E9C-9D44-90CCED1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xddp-n-0">
            <a:extLst xmlns:a="http://schemas.openxmlformats.org/drawingml/2006/main">
              <a:ext uri="{FF2B5EF4-FFF2-40B4-BE49-F238E27FC236}">
                <a16:creationId xmlns:a16="http://schemas.microsoft.com/office/drawing/2014/main" id="{A9D985A3-D7AA-4310-8C77-0231C421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xddp-h-0">
            <a:extLst xmlns:a="http://schemas.openxmlformats.org/drawingml/2006/main">
              <a:ext uri="{FF2B5EF4-FFF2-40B4-BE49-F238E27FC236}">
                <a16:creationId xmlns:a16="http://schemas.microsoft.com/office/drawing/2014/main" id="{8B3A9E01-55DB-49A6-BEA8-EB463DE2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変更理由</a:t>
            </a:r>
          </a:p>
        </p:txBody>
      </p:sp>
      <p:sp>
        <p:nvSpPr>
          <p:cNvPr id="9" name="xddp-en-0">
            <a:extLst xmlns:a="http://schemas.openxmlformats.org/drawingml/2006/main">
              <a:ext uri="{FF2B5EF4-FFF2-40B4-BE49-F238E27FC236}">
                <a16:creationId xmlns:a16="http://schemas.microsoft.com/office/drawing/2014/main" id="{85AE4B20-CDF8-4148-AB66-4AC17C7A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872"/>
                </a:solidFill>
              </a:defRPr>
            </a:pPr>
            <a:r>
              <a:rPr sz="1275" b="1">
                <a:solidFill>
                  <a:srgbClr val="606872"/>
                </a:solidFill>
              </a:rPr>
              <a:t>Why</a:t>
            </a:r>
          </a:p>
        </p:txBody>
      </p:sp>
      <p:sp>
        <p:nvSpPr>
          <p:cNvPr id="10" name="xddp-b-0">
            <a:extLst xmlns:a="http://schemas.openxmlformats.org/drawingml/2006/main">
              <a:ext uri="{FF2B5EF4-FFF2-40B4-BE49-F238E27FC236}">
                <a16:creationId xmlns:a16="http://schemas.microsoft.com/office/drawing/2014/main" id="{97E01566-ACDA-47B4-AC48-B609A17A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なぜ変えるのか</a:t>
            </a:r>
          </a:p>
        </p:txBody>
      </p:sp>
      <p:sp>
        <p:nvSpPr>
          <p:cNvPr id="11" name="xddp-1">
            <a:extLst xmlns:a="http://schemas.openxmlformats.org/drawingml/2006/main">
              <a:ext uri="{FF2B5EF4-FFF2-40B4-BE49-F238E27FC236}">
                <a16:creationId xmlns:a16="http://schemas.microsoft.com/office/drawing/2014/main" id="{35E8778B-5054-451E-A453-31F79A55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24384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xddp-num-1">
            <a:extLst xmlns:a="http://schemas.openxmlformats.org/drawingml/2006/main">
              <a:ext uri="{FF2B5EF4-FFF2-40B4-BE49-F238E27FC236}">
                <a16:creationId xmlns:a16="http://schemas.microsoft.com/office/drawing/2014/main" id="{6233C51D-0D9A-4B6D-8CE3-EA788F73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09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xddp-n-1">
            <a:extLst xmlns:a="http://schemas.openxmlformats.org/drawingml/2006/main">
              <a:ext uri="{FF2B5EF4-FFF2-40B4-BE49-F238E27FC236}">
                <a16:creationId xmlns:a16="http://schemas.microsoft.com/office/drawing/2014/main" id="{623A0C23-4D23-4A80-AC0E-3EA807B1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xddp-h-1">
            <a:extLst xmlns:a="http://schemas.openxmlformats.org/drawingml/2006/main">
              <a:ext uri="{FF2B5EF4-FFF2-40B4-BE49-F238E27FC236}">
                <a16:creationId xmlns:a16="http://schemas.microsoft.com/office/drawing/2014/main" id="{DF1D3266-E4AA-468D-8660-F69A1278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717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変更内容</a:t>
            </a:r>
          </a:p>
        </p:txBody>
      </p:sp>
      <p:sp>
        <p:nvSpPr>
          <p:cNvPr id="15" name="xddp-en-1">
            <a:extLst xmlns:a="http://schemas.openxmlformats.org/drawingml/2006/main">
              <a:ext uri="{FF2B5EF4-FFF2-40B4-BE49-F238E27FC236}">
                <a16:creationId xmlns:a16="http://schemas.microsoft.com/office/drawing/2014/main" id="{1BE67CC0-42DD-43CD-AA63-235EEB41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051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872"/>
                </a:solidFill>
              </a:defRPr>
            </a:pPr>
            <a:r>
              <a:rPr sz="1275" b="1">
                <a:solidFill>
                  <a:srgbClr val="606872"/>
                </a:solidFill>
              </a:rPr>
              <a:t>What</a:t>
            </a:r>
          </a:p>
        </p:txBody>
      </p:sp>
      <p:sp>
        <p:nvSpPr>
          <p:cNvPr id="16" name="xddp-b-1">
            <a:extLst xmlns:a="http://schemas.openxmlformats.org/drawingml/2006/main">
              <a:ext uri="{FF2B5EF4-FFF2-40B4-BE49-F238E27FC236}">
                <a16:creationId xmlns:a16="http://schemas.microsoft.com/office/drawing/2014/main" id="{C1251467-41D7-452C-84A4-47365F05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何を変えるのか</a:t>
            </a:r>
          </a:p>
        </p:txBody>
      </p:sp>
      <p:sp>
        <p:nvSpPr>
          <p:cNvPr id="17" name="xddp-2">
            <a:extLst xmlns:a="http://schemas.openxmlformats.org/drawingml/2006/main">
              <a:ext uri="{FF2B5EF4-FFF2-40B4-BE49-F238E27FC236}">
                <a16:creationId xmlns:a16="http://schemas.microsoft.com/office/drawing/2014/main" id="{89F15F45-F70B-4347-B760-D2B5C317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24384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18" name="xddp-num-2">
            <a:extLst xmlns:a="http://schemas.openxmlformats.org/drawingml/2006/main">
              <a:ext uri="{FF2B5EF4-FFF2-40B4-BE49-F238E27FC236}">
                <a16:creationId xmlns:a16="http://schemas.microsoft.com/office/drawing/2014/main" id="{1AF1E24D-F47A-4AD3-A79D-24318362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9B00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19" name="xddp-n-2">
            <a:extLst xmlns:a="http://schemas.openxmlformats.org/drawingml/2006/main">
              <a:ext uri="{FF2B5EF4-FFF2-40B4-BE49-F238E27FC236}">
                <a16:creationId xmlns:a16="http://schemas.microsoft.com/office/drawing/2014/main" id="{2F3B61FA-BDCF-41E5-BFF3-ED2EA484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0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xddp-h-2">
            <a:extLst xmlns:a="http://schemas.openxmlformats.org/drawingml/2006/main">
              <a:ext uri="{FF2B5EF4-FFF2-40B4-BE49-F238E27FC236}">
                <a16:creationId xmlns:a16="http://schemas.microsoft.com/office/drawing/2014/main" id="{5A537CD2-7455-45D1-BAD0-77BECA8F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717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9B00"/>
                </a:solidFill>
              </a:defRPr>
            </a:pPr>
            <a:r>
              <a:rPr sz="1875" b="1">
                <a:solidFill>
                  <a:srgbClr val="D99B00"/>
                </a:solidFill>
              </a:rPr>
              <a:t>変更箇所</a:t>
            </a:r>
          </a:p>
        </p:txBody>
      </p:sp>
      <p:sp>
        <p:nvSpPr>
          <p:cNvPr id="21" name="xddp-en-2">
            <a:extLst xmlns:a="http://schemas.openxmlformats.org/drawingml/2006/main">
              <a:ext uri="{FF2B5EF4-FFF2-40B4-BE49-F238E27FC236}">
                <a16:creationId xmlns:a16="http://schemas.microsoft.com/office/drawing/2014/main" id="{02115418-9F85-474F-9E75-1FD0DAC1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051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872"/>
                </a:solidFill>
              </a:defRPr>
            </a:pPr>
            <a:r>
              <a:rPr sz="1275" b="1">
                <a:solidFill>
                  <a:srgbClr val="606872"/>
                </a:solidFill>
              </a:rPr>
              <a:t>Where</a:t>
            </a:r>
          </a:p>
        </p:txBody>
      </p:sp>
      <p:sp>
        <p:nvSpPr>
          <p:cNvPr id="22" name="xddp-b-2">
            <a:extLst xmlns:a="http://schemas.openxmlformats.org/drawingml/2006/main">
              <a:ext uri="{FF2B5EF4-FFF2-40B4-BE49-F238E27FC236}">
                <a16:creationId xmlns:a16="http://schemas.microsoft.com/office/drawing/2014/main" id="{D998334A-3A11-4079-B5BB-6FD1C90F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どこを変えるのか</a:t>
            </a:r>
          </a:p>
        </p:txBody>
      </p:sp>
      <p:sp>
        <p:nvSpPr>
          <p:cNvPr id="23" name="xddp-3">
            <a:extLst xmlns:a="http://schemas.openxmlformats.org/drawingml/2006/main">
              <a:ext uri="{FF2B5EF4-FFF2-40B4-BE49-F238E27FC236}">
                <a16:creationId xmlns:a16="http://schemas.microsoft.com/office/drawing/2014/main" id="{F7F78160-D8B7-4E0F-9E62-B3D244C9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19350"/>
            <a:ext cx="24384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1B8A5A"/>
            </a:solidFill>
            <a:prstDash val="solid"/>
          </a:ln>
        </p:spPr>
      </p:sp>
      <p:sp>
        <p:nvSpPr>
          <p:cNvPr id="24" name="xddp-num-3">
            <a:extLst xmlns:a="http://schemas.openxmlformats.org/drawingml/2006/main">
              <a:ext uri="{FF2B5EF4-FFF2-40B4-BE49-F238E27FC236}">
                <a16:creationId xmlns:a16="http://schemas.microsoft.com/office/drawing/2014/main" id="{94BCE404-8E8B-4C02-98E9-5B7BC2A9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8A5A"/>
          </a:solidFill>
          <a:ln xmlns:a="http://schemas.openxmlformats.org/drawingml/2006/main" w="9525">
            <a:solidFill>
              <a:srgbClr val="1B8A5A"/>
            </a:solidFill>
            <a:prstDash val="solid"/>
          </a:ln>
        </p:spPr>
      </p:sp>
      <p:sp>
        <p:nvSpPr>
          <p:cNvPr id="25" name="xddp-n-3">
            <a:extLst xmlns:a="http://schemas.openxmlformats.org/drawingml/2006/main">
              <a:ext uri="{FF2B5EF4-FFF2-40B4-BE49-F238E27FC236}">
                <a16:creationId xmlns:a16="http://schemas.microsoft.com/office/drawing/2014/main" id="{5B05F41F-11B5-413A-A6B2-83E14BC4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xddp-h-3">
            <a:extLst xmlns:a="http://schemas.openxmlformats.org/drawingml/2006/main">
              <a:ext uri="{FF2B5EF4-FFF2-40B4-BE49-F238E27FC236}">
                <a16:creationId xmlns:a16="http://schemas.microsoft.com/office/drawing/2014/main" id="{1F12150C-A8ED-46A9-AF8D-617888AF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717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8A5A"/>
                </a:solidFill>
              </a:defRPr>
            </a:pPr>
            <a:r>
              <a:rPr sz="1875" b="1">
                <a:solidFill>
                  <a:srgbClr val="1B8A5A"/>
                </a:solidFill>
              </a:rPr>
              <a:t>変更方法</a:t>
            </a:r>
          </a:p>
        </p:txBody>
      </p:sp>
      <p:sp>
        <p:nvSpPr>
          <p:cNvPr id="27" name="xddp-en-3">
            <a:extLst xmlns:a="http://schemas.openxmlformats.org/drawingml/2006/main">
              <a:ext uri="{FF2B5EF4-FFF2-40B4-BE49-F238E27FC236}">
                <a16:creationId xmlns:a16="http://schemas.microsoft.com/office/drawing/2014/main" id="{B3C1E3E7-67B7-45F5-8C4A-12C1FDE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051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872"/>
                </a:solidFill>
              </a:defRPr>
            </a:pPr>
            <a:r>
              <a:rPr sz="1275" b="1">
                <a:solidFill>
                  <a:srgbClr val="606872"/>
                </a:solidFill>
              </a:rPr>
              <a:t>How</a:t>
            </a:r>
          </a:p>
        </p:txBody>
      </p:sp>
      <p:sp>
        <p:nvSpPr>
          <p:cNvPr id="28" name="xddp-b-3">
            <a:extLst xmlns:a="http://schemas.openxmlformats.org/drawingml/2006/main">
              <a:ext uri="{FF2B5EF4-FFF2-40B4-BE49-F238E27FC236}">
                <a16:creationId xmlns:a16="http://schemas.microsoft.com/office/drawing/2014/main" id="{EE5402D3-0E68-489D-9395-1FCAA997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どう変え、どう確認するか</a:t>
            </a:r>
          </a:p>
        </p:txBody>
      </p:sp>
      <p:sp>
        <p:nvSpPr>
          <p:cNvPr id="29" name="xddp-ai">
            <a:extLst xmlns:a="http://schemas.openxmlformats.org/drawingml/2006/main">
              <a:ext uri="{FF2B5EF4-FFF2-40B4-BE49-F238E27FC236}">
                <a16:creationId xmlns:a16="http://schemas.microsoft.com/office/drawing/2014/main" id="{100AF6BB-AB7B-49D0-A92A-E17D014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0" name="xddp-ai-text">
            <a:extLst xmlns:a="http://schemas.openxmlformats.org/drawingml/2006/main">
              <a:ext uri="{FF2B5EF4-FFF2-40B4-BE49-F238E27FC236}">
                <a16:creationId xmlns:a16="http://schemas.microsoft.com/office/drawing/2014/main" id="{349A8FD0-3E6F-4781-AD60-2E0C4543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81525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AI：4つの問いの整理状況と不足を示す</a:t>
            </a:r>
          </a:p>
        </p:txBody>
      </p:sp>
      <p:sp>
        <p:nvSpPr>
          <p:cNvPr id="31" name="xddp-human">
            <a:extLst xmlns:a="http://schemas.openxmlformats.org/drawingml/2006/main">
              <a:ext uri="{FF2B5EF4-FFF2-40B4-BE49-F238E27FC236}">
                <a16:creationId xmlns:a16="http://schemas.microsoft.com/office/drawing/2014/main" id="{7C7B39D0-E53F-4150-A191-CD98B9FD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32" name="xddp-human-text">
            <a:extLst xmlns:a="http://schemas.openxmlformats.org/drawingml/2006/main">
              <a:ext uri="{FF2B5EF4-FFF2-40B4-BE49-F238E27FC236}">
                <a16:creationId xmlns:a16="http://schemas.microsoft.com/office/drawing/2014/main" id="{B0B36303-A874-43F7-B605-26CDC7B6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81525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9B00"/>
                </a:solidFill>
              </a:defRPr>
            </a:pPr>
            <a:r>
              <a:rPr sz="1350" b="1">
                <a:solidFill>
                  <a:srgbClr val="D99B00"/>
                </a:solidFill>
              </a:rPr>
              <a:t>人間：内容を確認し、次に進むかを決める</a:t>
            </a:r>
          </a:p>
        </p:txBody>
      </p:sp>
      <p:sp>
        <p:nvSpPr>
          <p:cNvPr id="33" name="phase-strip">
            <a:extLst xmlns:a="http://schemas.openxmlformats.org/drawingml/2006/main">
              <a:ext uri="{FF2B5EF4-FFF2-40B4-BE49-F238E27FC236}">
                <a16:creationId xmlns:a16="http://schemas.microsoft.com/office/drawing/2014/main" id="{C18A6245-3A37-440A-A5CE-221FB6A6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9982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4" name="phase-strip-text">
            <a:extLst xmlns:a="http://schemas.openxmlformats.org/drawingml/2006/main">
              <a:ext uri="{FF2B5EF4-FFF2-40B4-BE49-F238E27FC236}">
                <a16:creationId xmlns:a16="http://schemas.microsoft.com/office/drawing/2014/main" id="{DF22BB9E-097D-4197-A7E9-FFF61B7B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67350"/>
            <a:ext cx="941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要求定義 → 計画 → 設計 → 製造 → テスト → 終結</a:t>
            </a:r>
          </a:p>
        </p:txBody>
      </p:sp>
      <p:sp>
        <p:nvSpPr>
          <p:cNvPr id="3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26B7BA8-7687-4866-8AFF-B9A0CC9D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6" name="footer">
            <a:extLst xmlns:a="http://schemas.openxmlformats.org/drawingml/2006/main">
              <a:ext uri="{FF2B5EF4-FFF2-40B4-BE49-F238E27FC236}">
                <a16:creationId xmlns:a16="http://schemas.microsoft.com/office/drawing/2014/main" id="{1F86AE45-2892-4937-82A2-FC4F9670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How to use</a:t>
            </a:r>
          </a:p>
        </p:txBody>
      </p:sp>
      <p:sp>
        <p:nvSpPr>
          <p:cNvPr id="37" name="page">
            <a:extLst xmlns:a="http://schemas.openxmlformats.org/drawingml/2006/main">
              <a:ext uri="{FF2B5EF4-FFF2-40B4-BE49-F238E27FC236}">
                <a16:creationId xmlns:a16="http://schemas.microsoft.com/office/drawing/2014/main" id="{95C01B80-D675-4EEC-B930-8AA0BA68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7681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09D85657-C36D-4583-8620-7CD9A42B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使い方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FCD7450-A9B4-4788-9A42-37717EE6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AIは4つの問いの整理状況から、次の進め方を案内する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80D82AA2-FA5F-4EDB-807C-329C0FDF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途中まで整理した資料もそのまま渡し、足りない情報と次に行う作業を確認します。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7D3B7A0-C960-4F22-8911-DDA6A3B4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820091B1-BDB5-4453-8C4D-363443E0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000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025B931C-9876-41B7-8086-2D20900F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CBF4"/>
                </a:solidFill>
              </a:defRPr>
            </a:pPr>
            <a:r>
              <a:rPr sz="1500" b="1">
                <a:solidFill>
                  <a:srgbClr val="6DCBF4"/>
                </a:solidFill>
              </a:rPr>
              <a:t>AIへの依頼例</a:t>
            </a:r>
          </a:p>
        </p:txBody>
      </p:sp>
      <p:sp>
        <p:nvSpPr>
          <p:cNvPr id="7" name="prompt-body">
            <a:extLst xmlns:a="http://schemas.openxmlformats.org/drawingml/2006/main">
              <a:ext uri="{FF2B5EF4-FFF2-40B4-BE49-F238E27FC236}">
                <a16:creationId xmlns:a16="http://schemas.microsoft.com/office/drawing/2014/main" id="{C7058D3D-6A83-48E9-8AC9-D1F0CEAC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Skill: $brownfield-workflow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現状の情報: &lt;current facts&gt;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目的: &lt;why&gt;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変更したいこと: &lt;what&gt;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途中までの整理: &lt;draft artifact&gt;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利用できる証拠: &lt;sources&gt;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4つの問いの整理状況を確認し、不足情報・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確認事項・次の作業を案内してください。</a:t>
            </a:r>
          </a:p>
        </p:txBody>
      </p:sp>
      <p:sp>
        <p:nvSpPr>
          <p:cNvPr id="8" name="four-parts">
            <a:extLst xmlns:a="http://schemas.openxmlformats.org/drawingml/2006/main">
              <a:ext uri="{FF2B5EF4-FFF2-40B4-BE49-F238E27FC236}">
                <a16:creationId xmlns:a16="http://schemas.microsoft.com/office/drawing/2014/main" id="{FA47088A-505E-49BB-B4EF-C7C3B0C6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4191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part-a-0">
            <a:extLst xmlns:a="http://schemas.openxmlformats.org/drawingml/2006/main">
              <a:ext uri="{FF2B5EF4-FFF2-40B4-BE49-F238E27FC236}">
                <a16:creationId xmlns:a16="http://schemas.microsoft.com/office/drawing/2014/main" id="{4096842A-6E39-4BFB-9363-8D1DF734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19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整理状況</a:t>
            </a:r>
          </a:p>
        </p:txBody>
      </p:sp>
      <p:sp>
        <p:nvSpPr>
          <p:cNvPr id="10" name="part-b-0">
            <a:extLst xmlns:a="http://schemas.openxmlformats.org/drawingml/2006/main">
              <a:ext uri="{FF2B5EF4-FFF2-40B4-BE49-F238E27FC236}">
                <a16:creationId xmlns:a16="http://schemas.microsoft.com/office/drawing/2014/main" id="{DA1B3DF1-77A9-4112-9BFF-F06E601D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19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4つの問いを確認</a:t>
            </a:r>
          </a:p>
        </p:txBody>
      </p:sp>
      <p:sp>
        <p:nvSpPr>
          <p:cNvPr id="11" name="part-a-1">
            <a:extLst xmlns:a="http://schemas.openxmlformats.org/drawingml/2006/main">
              <a:ext uri="{FF2B5EF4-FFF2-40B4-BE49-F238E27FC236}">
                <a16:creationId xmlns:a16="http://schemas.microsoft.com/office/drawing/2014/main" id="{C3F6AFD1-1792-4471-9694-22F00AF5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09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不足情報</a:t>
            </a:r>
          </a:p>
        </p:txBody>
      </p:sp>
      <p:sp>
        <p:nvSpPr>
          <p:cNvPr id="12" name="part-b-1">
            <a:extLst xmlns:a="http://schemas.openxmlformats.org/drawingml/2006/main">
              <a:ext uri="{FF2B5EF4-FFF2-40B4-BE49-F238E27FC236}">
                <a16:creationId xmlns:a16="http://schemas.microsoft.com/office/drawing/2014/main" id="{D8D43893-C364-44F9-B43A-FE2D4317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09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不足・矛盾を列挙</a:t>
            </a:r>
          </a:p>
        </p:txBody>
      </p:sp>
      <p:sp>
        <p:nvSpPr>
          <p:cNvPr id="13" name="part-a-2">
            <a:extLst xmlns:a="http://schemas.openxmlformats.org/drawingml/2006/main">
              <a:ext uri="{FF2B5EF4-FFF2-40B4-BE49-F238E27FC236}">
                <a16:creationId xmlns:a16="http://schemas.microsoft.com/office/drawing/2014/main" id="{BC6E22C2-91FB-4D04-8A06-0A6E3E10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確認事項</a:t>
            </a:r>
          </a:p>
        </p:txBody>
      </p:sp>
      <p:sp>
        <p:nvSpPr>
          <p:cNvPr id="14" name="part-b-2">
            <a:extLst xmlns:a="http://schemas.openxmlformats.org/drawingml/2006/main">
              <a:ext uri="{FF2B5EF4-FFF2-40B4-BE49-F238E27FC236}">
                <a16:creationId xmlns:a16="http://schemas.microsoft.com/office/drawing/2014/main" id="{E66C7D03-B538-430E-88B7-213FF25B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人間への質問</a:t>
            </a:r>
          </a:p>
        </p:txBody>
      </p:sp>
      <p:sp>
        <p:nvSpPr>
          <p:cNvPr id="15" name="part-a-3">
            <a:extLst xmlns:a="http://schemas.openxmlformats.org/drawingml/2006/main">
              <a:ext uri="{FF2B5EF4-FFF2-40B4-BE49-F238E27FC236}">
                <a16:creationId xmlns:a16="http://schemas.microsoft.com/office/drawing/2014/main" id="{51ABB439-9EAD-4EA4-B0CC-29B46BDE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次の進め方</a:t>
            </a:r>
          </a:p>
        </p:txBody>
      </p:sp>
      <p:sp>
        <p:nvSpPr>
          <p:cNvPr id="16" name="part-b-3">
            <a:extLst xmlns:a="http://schemas.openxmlformats.org/drawingml/2006/main">
              <a:ext uri="{FF2B5EF4-FFF2-40B4-BE49-F238E27FC236}">
                <a16:creationId xmlns:a16="http://schemas.microsoft.com/office/drawing/2014/main" id="{A5361859-E223-4585-B73C-CA3B260C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91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作業・成果物を提案</a:t>
            </a:r>
          </a:p>
        </p:txBody>
      </p:sp>
      <p:sp>
        <p:nvSpPr>
          <p:cNvPr id="17" name="usage-bottom">
            <a:extLst xmlns:a="http://schemas.openxmlformats.org/drawingml/2006/main">
              <a:ext uri="{FF2B5EF4-FFF2-40B4-BE49-F238E27FC236}">
                <a16:creationId xmlns:a16="http://schemas.microsoft.com/office/drawing/2014/main" id="{681BC9C2-EFC0-4A22-9013-1451DB45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計画は二段階：要求から初期計画を作り、差分確定後に詳細化する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A295522-33AD-40D4-9A35-8CF1B898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720454AE-BB96-4E38-86A1-EE26E32F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How to use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FFD0297D-35EF-419F-9A8E-A1566D5C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41350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12B1D580-1128-49BA-8B0C-4F232976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AIの提案を確認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5EB00833-4EFF-4979-B349-647D25C0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AIの提案を確認し、次の進め方を決める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723D7448-1D12-41DE-AC3D-A001CB78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AIの提案を、整理状況、不足情報、確認事項、次の作業、引き継ぎ条件の順に確認します。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B812ACE-1CBB-48C8-83BD-105D4495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out-0">
            <a:extLst xmlns:a="http://schemas.openxmlformats.org/drawingml/2006/main">
              <a:ext uri="{FF2B5EF4-FFF2-40B4-BE49-F238E27FC236}">
                <a16:creationId xmlns:a16="http://schemas.microsoft.com/office/drawing/2014/main" id="{94E4C3D8-E26D-4394-84D8-2B30C093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943100" cy="22479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out-a-0">
            <a:extLst xmlns:a="http://schemas.openxmlformats.org/drawingml/2006/main">
              <a:ext uri="{FF2B5EF4-FFF2-40B4-BE49-F238E27FC236}">
                <a16:creationId xmlns:a16="http://schemas.microsoft.com/office/drawing/2014/main" id="{27E9E826-E80B-417B-90C3-A40516AE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整理状況</a:t>
            </a:r>
          </a:p>
        </p:txBody>
      </p:sp>
      <p:sp>
        <p:nvSpPr>
          <p:cNvPr id="7" name="out-b-0">
            <a:extLst xmlns:a="http://schemas.openxmlformats.org/drawingml/2006/main">
              <a:ext uri="{FF2B5EF4-FFF2-40B4-BE49-F238E27FC236}">
                <a16:creationId xmlns:a16="http://schemas.microsoft.com/office/drawing/2014/main" id="{E7D7D7AB-4AF5-438D-A826-FD48969A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どこまで整理済みか</a:t>
            </a:r>
          </a:p>
        </p:txBody>
      </p:sp>
      <p:sp>
        <p:nvSpPr>
          <p:cNvPr id="8" name="out-c-0">
            <a:extLst xmlns:a="http://schemas.openxmlformats.org/drawingml/2006/main">
              <a:ext uri="{FF2B5EF4-FFF2-40B4-BE49-F238E27FC236}">
                <a16:creationId xmlns:a16="http://schemas.microsoft.com/office/drawing/2014/main" id="{A38FFA65-FD39-44C5-9739-8157B8B2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6872"/>
                </a:solidFill>
              </a:defRPr>
            </a:pPr>
            <a:r>
              <a:rPr sz="1275" b="0">
                <a:solidFill>
                  <a:srgbClr val="606872"/>
                </a:solidFill>
              </a:rPr>
              <a:t>理由 / 内容 / 箇所 / 方法</a:t>
            </a:r>
          </a:p>
        </p:txBody>
      </p:sp>
      <p:sp>
        <p:nvSpPr>
          <p:cNvPr id="9" name="out-1">
            <a:extLst xmlns:a="http://schemas.openxmlformats.org/drawingml/2006/main">
              <a:ext uri="{FF2B5EF4-FFF2-40B4-BE49-F238E27FC236}">
                <a16:creationId xmlns:a16="http://schemas.microsoft.com/office/drawing/2014/main" id="{6F4AA2FD-1A66-4473-9DDD-AD7A3BEE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647950"/>
            <a:ext cx="1943100" cy="22479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out-a-1">
            <a:extLst xmlns:a="http://schemas.openxmlformats.org/drawingml/2006/main">
              <a:ext uri="{FF2B5EF4-FFF2-40B4-BE49-F238E27FC236}">
                <a16:creationId xmlns:a16="http://schemas.microsoft.com/office/drawing/2014/main" id="{ED7C9629-1427-4555-BC98-0407794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146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不足情報</a:t>
            </a:r>
          </a:p>
        </p:txBody>
      </p:sp>
      <p:sp>
        <p:nvSpPr>
          <p:cNvPr id="11" name="out-b-1">
            <a:extLst xmlns:a="http://schemas.openxmlformats.org/drawingml/2006/main">
              <a:ext uri="{FF2B5EF4-FFF2-40B4-BE49-F238E27FC236}">
                <a16:creationId xmlns:a16="http://schemas.microsoft.com/office/drawing/2014/main" id="{26E58077-FC70-4531-B04D-555EB636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480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不足・矛盾</a:t>
            </a:r>
          </a:p>
        </p:txBody>
      </p:sp>
      <p:sp>
        <p:nvSpPr>
          <p:cNvPr id="12" name="out-c-1">
            <a:extLst xmlns:a="http://schemas.openxmlformats.org/drawingml/2006/main">
              <a:ext uri="{FF2B5EF4-FFF2-40B4-BE49-F238E27FC236}">
                <a16:creationId xmlns:a16="http://schemas.microsoft.com/office/drawing/2014/main" id="{75D78003-E7D4-4370-8CBC-DF6A6D37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672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6872"/>
                </a:solidFill>
              </a:defRPr>
            </a:pPr>
            <a:r>
              <a:rPr sz="1275" b="0">
                <a:solidFill>
                  <a:srgbClr val="606872"/>
                </a:solidFill>
              </a:rPr>
              <a:t>不足情報・未定義</a:t>
            </a:r>
          </a:p>
        </p:txBody>
      </p:sp>
      <p:sp>
        <p:nvSpPr>
          <p:cNvPr id="13" name="out-2">
            <a:extLst xmlns:a="http://schemas.openxmlformats.org/drawingml/2006/main">
              <a:ext uri="{FF2B5EF4-FFF2-40B4-BE49-F238E27FC236}">
                <a16:creationId xmlns:a16="http://schemas.microsoft.com/office/drawing/2014/main" id="{D58DA7F8-05ED-4D58-8354-F91DE4B9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47950"/>
            <a:ext cx="1943100" cy="22479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out-a-2">
            <a:extLst xmlns:a="http://schemas.openxmlformats.org/drawingml/2006/main">
              <a:ext uri="{FF2B5EF4-FFF2-40B4-BE49-F238E27FC236}">
                <a16:creationId xmlns:a16="http://schemas.microsoft.com/office/drawing/2014/main" id="{E76C9B55-31FC-4D3E-ADD6-1D243A4C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146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確認事項</a:t>
            </a:r>
          </a:p>
        </p:txBody>
      </p:sp>
      <p:sp>
        <p:nvSpPr>
          <p:cNvPr id="15" name="out-b-2">
            <a:extLst xmlns:a="http://schemas.openxmlformats.org/drawingml/2006/main">
              <a:ext uri="{FF2B5EF4-FFF2-40B4-BE49-F238E27FC236}">
                <a16:creationId xmlns:a16="http://schemas.microsoft.com/office/drawing/2014/main" id="{27C832FF-5256-468D-A525-2C439C19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480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人間への確認</a:t>
            </a:r>
          </a:p>
        </p:txBody>
      </p:sp>
      <p:sp>
        <p:nvSpPr>
          <p:cNvPr id="16" name="out-c-2">
            <a:extLst xmlns:a="http://schemas.openxmlformats.org/drawingml/2006/main">
              <a:ext uri="{FF2B5EF4-FFF2-40B4-BE49-F238E27FC236}">
                <a16:creationId xmlns:a16="http://schemas.microsoft.com/office/drawing/2014/main" id="{E28496DF-C281-445D-A0DF-DB8D3059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672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6872"/>
                </a:solidFill>
              </a:defRPr>
            </a:pPr>
            <a:r>
              <a:rPr sz="1275" b="0">
                <a:solidFill>
                  <a:srgbClr val="606872"/>
                </a:solidFill>
              </a:rPr>
              <a:t>意味・期待値・担当者</a:t>
            </a:r>
          </a:p>
        </p:txBody>
      </p:sp>
      <p:sp>
        <p:nvSpPr>
          <p:cNvPr id="17" name="out-3">
            <a:extLst xmlns:a="http://schemas.openxmlformats.org/drawingml/2006/main">
              <a:ext uri="{FF2B5EF4-FFF2-40B4-BE49-F238E27FC236}">
                <a16:creationId xmlns:a16="http://schemas.microsoft.com/office/drawing/2014/main" id="{4B6F3783-8139-41D8-A29F-1E8F9662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47950"/>
            <a:ext cx="1943100" cy="22479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18" name="out-a-3">
            <a:extLst xmlns:a="http://schemas.openxmlformats.org/drawingml/2006/main">
              <a:ext uri="{FF2B5EF4-FFF2-40B4-BE49-F238E27FC236}">
                <a16:creationId xmlns:a16="http://schemas.microsoft.com/office/drawing/2014/main" id="{6773A8C7-8304-4507-970B-3A1EFA83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9146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9B00"/>
                </a:solidFill>
              </a:defRPr>
            </a:pPr>
            <a:r>
              <a:rPr sz="1800" b="1">
                <a:solidFill>
                  <a:srgbClr val="D99B00"/>
                </a:solidFill>
              </a:rPr>
              <a:t>次の作業</a:t>
            </a:r>
          </a:p>
        </p:txBody>
      </p:sp>
      <p:sp>
        <p:nvSpPr>
          <p:cNvPr id="19" name="out-b-3">
            <a:extLst xmlns:a="http://schemas.openxmlformats.org/drawingml/2006/main">
              <a:ext uri="{FF2B5EF4-FFF2-40B4-BE49-F238E27FC236}">
                <a16:creationId xmlns:a16="http://schemas.microsoft.com/office/drawing/2014/main" id="{60EE8D1D-A114-4CB6-9510-41049555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4480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次に行う作業</a:t>
            </a:r>
          </a:p>
        </p:txBody>
      </p:sp>
      <p:sp>
        <p:nvSpPr>
          <p:cNvPr id="20" name="out-c-3">
            <a:extLst xmlns:a="http://schemas.openxmlformats.org/drawingml/2006/main">
              <a:ext uri="{FF2B5EF4-FFF2-40B4-BE49-F238E27FC236}">
                <a16:creationId xmlns:a16="http://schemas.microsoft.com/office/drawing/2014/main" id="{EE40F37E-B648-4222-8C41-F6F00009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672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6872"/>
                </a:solidFill>
              </a:defRPr>
            </a:pPr>
            <a:r>
              <a:rPr sz="1275" b="0">
                <a:solidFill>
                  <a:srgbClr val="606872"/>
                </a:solidFill>
              </a:rPr>
              <a:t>調査 / 整理 / 承認</a:t>
            </a:r>
          </a:p>
        </p:txBody>
      </p:sp>
      <p:sp>
        <p:nvSpPr>
          <p:cNvPr id="21" name="out-4">
            <a:extLst xmlns:a="http://schemas.openxmlformats.org/drawingml/2006/main">
              <a:ext uri="{FF2B5EF4-FFF2-40B4-BE49-F238E27FC236}">
                <a16:creationId xmlns:a16="http://schemas.microsoft.com/office/drawing/2014/main" id="{8DEAEFCB-879A-4C35-A555-FC06005D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1943100" cy="22479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out-a-4">
            <a:extLst xmlns:a="http://schemas.openxmlformats.org/drawingml/2006/main">
              <a:ext uri="{FF2B5EF4-FFF2-40B4-BE49-F238E27FC236}">
                <a16:creationId xmlns:a16="http://schemas.microsoft.com/office/drawing/2014/main" id="{022FC635-187C-486B-9327-A13FD538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146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引き継ぎ</a:t>
            </a:r>
          </a:p>
        </p:txBody>
      </p:sp>
      <p:sp>
        <p:nvSpPr>
          <p:cNvPr id="23" name="out-b-4">
            <a:extLst xmlns:a="http://schemas.openxmlformats.org/drawingml/2006/main">
              <a:ext uri="{FF2B5EF4-FFF2-40B4-BE49-F238E27FC236}">
                <a16:creationId xmlns:a16="http://schemas.microsoft.com/office/drawing/2014/main" id="{D63EA1B9-9C42-4A8F-A1E4-17DC48E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480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次の成果物と条件</a:t>
            </a:r>
          </a:p>
        </p:txBody>
      </p:sp>
      <p:sp>
        <p:nvSpPr>
          <p:cNvPr id="24" name="out-c-4">
            <a:extLst xmlns:a="http://schemas.openxmlformats.org/drawingml/2006/main">
              <a:ext uri="{FF2B5EF4-FFF2-40B4-BE49-F238E27FC236}">
                <a16:creationId xmlns:a16="http://schemas.microsoft.com/office/drawing/2014/main" id="{2E64E378-3110-4DF4-BAE7-B9970E5C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672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6872"/>
                </a:solidFill>
              </a:defRPr>
            </a:pPr>
            <a:r>
              <a:rPr sz="1275" b="0">
                <a:solidFill>
                  <a:srgbClr val="606872"/>
                </a:solidFill>
              </a:rPr>
              <a:t>成果物・確認点・担当者</a:t>
            </a:r>
          </a:p>
        </p:txBody>
      </p:sp>
      <p:sp>
        <p:nvSpPr>
          <p:cNvPr id="25" name="out-bottom">
            <a:extLst xmlns:a="http://schemas.openxmlformats.org/drawingml/2006/main">
              <a:ext uri="{FF2B5EF4-FFF2-40B4-BE49-F238E27FC236}">
                <a16:creationId xmlns:a16="http://schemas.microsoft.com/office/drawing/2014/main" id="{9F4A4A31-2088-46B1-98B3-41F76CD7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整理状況 → 不足情報 → 確認事項 → 次の作業 → 引き継ぎを、人間が確認して進める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B02E4B0-F395-451A-8932-B0556628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DA6BEBB9-557F-4BFB-826A-7E18DBC1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How to use</a:t>
            </a:r>
          </a:p>
        </p:txBody>
      </p:sp>
      <p:sp>
        <p:nvSpPr>
          <p:cNvPr id="28" name="page">
            <a:extLst xmlns:a="http://schemas.openxmlformats.org/drawingml/2006/main">
              <a:ext uri="{FF2B5EF4-FFF2-40B4-BE49-F238E27FC236}">
                <a16:creationId xmlns:a16="http://schemas.microsoft.com/office/drawing/2014/main" id="{6206AA5C-3DC4-4395-B858-FF8AD160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4810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CE3E307A-92BE-416C-AFA8-82A59DC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要求定義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0218F410-D88A-47D5-A7A2-FD73867F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既存の要求定義を、そのまま利用できるかを決める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F00DF3B5-5B78-4CE7-9778-56FE0476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不足・不明点・矛盾を確認し、そのまま使えるか、補正が必要かを判断します。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3BBBC87-5C1A-43FF-81D8-34EAF1E2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req-input">
            <a:extLst xmlns:a="http://schemas.openxmlformats.org/drawingml/2006/main">
              <a:ext uri="{FF2B5EF4-FFF2-40B4-BE49-F238E27FC236}">
                <a16:creationId xmlns:a16="http://schemas.microsoft.com/office/drawing/2014/main" id="{CF222321-0AC7-4167-9DDE-F343494D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6" name="req-input-title">
            <a:extLst xmlns:a="http://schemas.openxmlformats.org/drawingml/2006/main">
              <a:ext uri="{FF2B5EF4-FFF2-40B4-BE49-F238E27FC236}">
                <a16:creationId xmlns:a16="http://schemas.microsoft.com/office/drawing/2014/main" id="{0F9ADB27-66AA-4346-B820-00DE9431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AIに渡す情報</a:t>
            </a:r>
          </a:p>
        </p:txBody>
      </p:sp>
      <p:sp>
        <p:nvSpPr>
          <p:cNvPr id="7" name="req-input-list">
            <a:extLst xmlns:a="http://schemas.openxmlformats.org/drawingml/2006/main">
              <a:ext uri="{FF2B5EF4-FFF2-40B4-BE49-F238E27FC236}">
                <a16:creationId xmlns:a16="http://schemas.microsoft.com/office/drawing/2014/main" id="{52321B5E-455E-4C18-ABA4-0A162935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要求定義書・版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出典・担当者・承認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現行挙動の証拠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目的・受入条件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設計・既存テスト</a:t>
            </a:r>
          </a:p>
        </p:txBody>
      </p:sp>
      <p:sp>
        <p:nvSpPr>
          <p:cNvPr id="8" name="req-arrow">
            <a:extLst xmlns:a="http://schemas.openxmlformats.org/drawingml/2006/main">
              <a:ext uri="{FF2B5EF4-FFF2-40B4-BE49-F238E27FC236}">
                <a16:creationId xmlns:a16="http://schemas.microsoft.com/office/drawing/2014/main" id="{2134A9C2-B6D6-4EB6-8A45-51BB46D5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33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9" name="req-output">
            <a:extLst xmlns:a="http://schemas.openxmlformats.org/drawingml/2006/main">
              <a:ext uri="{FF2B5EF4-FFF2-40B4-BE49-F238E27FC236}">
                <a16:creationId xmlns:a16="http://schemas.microsoft.com/office/drawing/2014/main" id="{D1C53979-CFF1-4EC7-9D0D-5C8F3A80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req-output-title">
            <a:extLst xmlns:a="http://schemas.openxmlformats.org/drawingml/2006/main">
              <a:ext uri="{FF2B5EF4-FFF2-40B4-BE49-F238E27FC236}">
                <a16:creationId xmlns:a16="http://schemas.microsoft.com/office/drawing/2014/main" id="{88212A75-1303-473C-9C0E-4826005C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03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AIの整理結果</a:t>
            </a:r>
          </a:p>
        </p:txBody>
      </p:sp>
      <p:sp>
        <p:nvSpPr>
          <p:cNvPr id="11" name="req-output-list">
            <a:extLst xmlns:a="http://schemas.openxmlformats.org/drawingml/2006/main">
              <a:ext uri="{FF2B5EF4-FFF2-40B4-BE49-F238E27FC236}">
                <a16:creationId xmlns:a16="http://schemas.microsoft.com/office/drawing/2014/main" id="{3427C020-084B-4087-913A-7F3F9161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90900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対象と範囲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現行／望ましい挙動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不足・不明点・矛盾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根拠と下流影響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判断事項</a:t>
            </a:r>
          </a:p>
        </p:txBody>
      </p:sp>
      <p:sp>
        <p:nvSpPr>
          <p:cNvPr id="12" name="req-arrow-2">
            <a:extLst xmlns:a="http://schemas.openxmlformats.org/drawingml/2006/main">
              <a:ext uri="{FF2B5EF4-FFF2-40B4-BE49-F238E27FC236}">
                <a16:creationId xmlns:a16="http://schemas.microsoft.com/office/drawing/2014/main" id="{FEB881FB-1703-42F9-A0A7-DF3B3084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33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3" name="req-human">
            <a:extLst xmlns:a="http://schemas.openxmlformats.org/drawingml/2006/main">
              <a:ext uri="{FF2B5EF4-FFF2-40B4-BE49-F238E27FC236}">
                <a16:creationId xmlns:a16="http://schemas.microsoft.com/office/drawing/2014/main" id="{9BBDEF9C-8CAF-40FD-9337-05B6B6D3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2781300" cy="2952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14" name="req-human-title">
            <a:extLst xmlns:a="http://schemas.openxmlformats.org/drawingml/2006/main">
              <a:ext uri="{FF2B5EF4-FFF2-40B4-BE49-F238E27FC236}">
                <a16:creationId xmlns:a16="http://schemas.microsoft.com/office/drawing/2014/main" id="{5A2B8D8B-328B-447A-BDAF-0CDB3A64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9B00"/>
                </a:solidFill>
              </a:defRPr>
            </a:pPr>
            <a:r>
              <a:rPr sz="1875" b="1">
                <a:solidFill>
                  <a:srgbClr val="D99B00"/>
                </a:solidFill>
              </a:rPr>
              <a:t>人間の判断</a:t>
            </a:r>
          </a:p>
        </p:txBody>
      </p:sp>
      <p:sp>
        <p:nvSpPr>
          <p:cNvPr id="15" name="req-human-list">
            <a:extLst xmlns:a="http://schemas.openxmlformats.org/drawingml/2006/main">
              <a:ext uri="{FF2B5EF4-FFF2-40B4-BE49-F238E27FC236}">
                <a16:creationId xmlns:a16="http://schemas.microsoft.com/office/drawing/2014/main" id="{92FCBABF-886A-4C41-9E14-DC7CF95D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86150"/>
            <a:ext cx="1866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そのまま利用できるか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補足・修正が必要か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受入条件は検証可能か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利用 / 補正 / 保留</a:t>
            </a:r>
          </a:p>
        </p:txBody>
      </p:sp>
      <p:sp>
        <p:nvSpPr>
          <p:cNvPr id="16" name="req-bottom">
            <a:extLst xmlns:a="http://schemas.openxmlformats.org/drawingml/2006/main">
              <a:ext uri="{FF2B5EF4-FFF2-40B4-BE49-F238E27FC236}">
                <a16:creationId xmlns:a16="http://schemas.microsoft.com/office/drawing/2014/main" id="{CF71CABD-FC5D-4168-BE9E-3DAC8249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53B45"/>
                </a:solidFill>
              </a:defRPr>
            </a:pPr>
            <a:r>
              <a:rPr sz="1500" b="1">
                <a:solidFill>
                  <a:srgbClr val="C53B45"/>
                </a:solidFill>
              </a:rPr>
              <a:t>担当者不明・承認不明・期待値不足・重大な矛盾があれば、設計へ進めない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1E7122E-A7CE-4221-BE9F-889A54E1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1A361829-AD54-4B64-B98F-60B0731A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How to use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5B2FE9F4-549C-40AE-B310-1B3C4AB5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63064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kicker">
            <a:extLst xmlns:a="http://schemas.openxmlformats.org/drawingml/2006/main">
              <a:ext uri="{FF2B5EF4-FFF2-40B4-BE49-F238E27FC236}">
                <a16:creationId xmlns:a16="http://schemas.microsoft.com/office/drawing/2014/main" id="{5CEE2551-C2C3-41B1-A5C2-15DF9EF4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設計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1E323159-C65F-4866-A3A8-A02F65F1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3つの情報を比較し、設計上の差分を承認する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326CC952-5744-4184-B4F8-06EBB633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AIは差分を整理し、人間は変更の意味、不変条件、影響範囲を判断します。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E3E5AFD-826B-448C-90D7-D23D0586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rh-0">
            <a:extLst xmlns:a="http://schemas.openxmlformats.org/drawingml/2006/main">
              <a:ext uri="{FF2B5EF4-FFF2-40B4-BE49-F238E27FC236}">
                <a16:creationId xmlns:a16="http://schemas.microsoft.com/office/drawing/2014/main" id="{0364C1B2-EE5A-46C1-85BD-885EEAC0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rht-0">
            <a:extLst xmlns:a="http://schemas.openxmlformats.org/drawingml/2006/main">
              <a:ext uri="{FF2B5EF4-FFF2-40B4-BE49-F238E27FC236}">
                <a16:creationId xmlns:a16="http://schemas.microsoft.com/office/drawing/2014/main" id="{A5D0844E-836E-4BDF-9CD2-DEE2AE6C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003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現行仕様</a:t>
            </a:r>
          </a:p>
        </p:txBody>
      </p:sp>
      <p:sp>
        <p:nvSpPr>
          <p:cNvPr id="7" name="rh-1">
            <a:extLst xmlns:a="http://schemas.openxmlformats.org/drawingml/2006/main">
              <a:ext uri="{FF2B5EF4-FFF2-40B4-BE49-F238E27FC236}">
                <a16:creationId xmlns:a16="http://schemas.microsoft.com/office/drawing/2014/main" id="{7DDAA742-C034-4A4A-A2A2-534AE382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rht-1">
            <a:extLst xmlns:a="http://schemas.openxmlformats.org/drawingml/2006/main">
              <a:ext uri="{FF2B5EF4-FFF2-40B4-BE49-F238E27FC236}">
                <a16:creationId xmlns:a16="http://schemas.microsoft.com/office/drawing/2014/main" id="{7D4C3F67-BE11-4061-93BB-10875CA4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003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現行挙動</a:t>
            </a:r>
          </a:p>
        </p:txBody>
      </p:sp>
      <p:sp>
        <p:nvSpPr>
          <p:cNvPr id="9" name="rh-2">
            <a:extLst xmlns:a="http://schemas.openxmlformats.org/drawingml/2006/main">
              <a:ext uri="{FF2B5EF4-FFF2-40B4-BE49-F238E27FC236}">
                <a16:creationId xmlns:a16="http://schemas.microsoft.com/office/drawing/2014/main" id="{7A9DD2C7-2470-428F-B6B5-77409C99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rht-2">
            <a:extLst xmlns:a="http://schemas.openxmlformats.org/drawingml/2006/main">
              <a:ext uri="{FF2B5EF4-FFF2-40B4-BE49-F238E27FC236}">
                <a16:creationId xmlns:a16="http://schemas.microsoft.com/office/drawing/2014/main" id="{A504D770-8D9B-4FA5-9B1E-0C213004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6003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新規要求</a:t>
            </a:r>
          </a:p>
        </p:txBody>
      </p:sp>
      <p:sp>
        <p:nvSpPr>
          <p:cNvPr id="11" name="rh-3">
            <a:extLst xmlns:a="http://schemas.openxmlformats.org/drawingml/2006/main">
              <a:ext uri="{FF2B5EF4-FFF2-40B4-BE49-F238E27FC236}">
                <a16:creationId xmlns:a16="http://schemas.microsoft.com/office/drawing/2014/main" id="{6D43955F-9A95-4653-A893-D5593C11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765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rht-3">
            <a:extLst xmlns:a="http://schemas.openxmlformats.org/drawingml/2006/main">
              <a:ext uri="{FF2B5EF4-FFF2-40B4-BE49-F238E27FC236}">
                <a16:creationId xmlns:a16="http://schemas.microsoft.com/office/drawing/2014/main" id="{D782690A-01CF-429D-A992-55B3E8FF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003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設計判断</a:t>
            </a:r>
          </a:p>
        </p:txBody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6BF6EF86-EBF7-4112-B81D-0C8C6F51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celltext-0-0">
            <a:extLst xmlns:a="http://schemas.openxmlformats.org/drawingml/2006/main">
              <a:ext uri="{FF2B5EF4-FFF2-40B4-BE49-F238E27FC236}">
                <a16:creationId xmlns:a16="http://schemas.microsoft.com/office/drawing/2014/main" id="{CA257B20-8211-4884-9209-22CA38C3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status codeを表示</a:t>
            </a:r>
          </a:p>
        </p:txBody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F7F0BC80-A200-40AE-BA86-A8C163D4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4800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celltext-0-1">
            <a:extLst xmlns:a="http://schemas.openxmlformats.org/drawingml/2006/main">
              <a:ext uri="{FF2B5EF4-FFF2-40B4-BE49-F238E27FC236}">
                <a16:creationId xmlns:a16="http://schemas.microsoft.com/office/drawing/2014/main" id="{EA4E9A29-8A9A-4D1A-986A-C766E75A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0992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 → 受付中</a:t>
            </a:r>
          </a:p>
        </p:txBody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13B0ABB1-7F10-43C8-8348-DDEBB825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8" name="celltext-0-2">
            <a:extLst xmlns:a="http://schemas.openxmlformats.org/drawingml/2006/main">
              <a:ext uri="{FF2B5EF4-FFF2-40B4-BE49-F238E27FC236}">
                <a16:creationId xmlns:a16="http://schemas.microsoft.com/office/drawing/2014/main" id="{B7B8B166-C33C-4ED2-83F0-ECB18078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0992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 → 処理中</a:t>
            </a:r>
          </a:p>
        </p:txBody>
      </p:sp>
      <p:sp>
        <p:nvSpPr>
          <p:cNvPr id="19" name="cell-0-3">
            <a:extLst xmlns:a="http://schemas.openxmlformats.org/drawingml/2006/main">
              <a:ext uri="{FF2B5EF4-FFF2-40B4-BE49-F238E27FC236}">
                <a16:creationId xmlns:a16="http://schemas.microsoft.com/office/drawing/2014/main" id="{ED499A94-D521-497C-A9A1-42C86D59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0" name="celltext-0-3">
            <a:extLst xmlns:a="http://schemas.openxmlformats.org/drawingml/2006/main">
              <a:ext uri="{FF2B5EF4-FFF2-40B4-BE49-F238E27FC236}">
                <a16:creationId xmlns:a16="http://schemas.microsoft.com/office/drawing/2014/main" id="{DB7E4292-AD62-46B6-B422-9DB8BF4F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0992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変更</a:t>
            </a:r>
          </a:p>
        </p:txBody>
      </p:sp>
      <p:sp>
        <p:nvSpPr>
          <p:cNvPr id="21" name="cell-1-0">
            <a:extLst xmlns:a="http://schemas.openxmlformats.org/drawingml/2006/main">
              <a:ext uri="{FF2B5EF4-FFF2-40B4-BE49-F238E27FC236}">
                <a16:creationId xmlns:a16="http://schemas.microsoft.com/office/drawing/2014/main" id="{DEE1B7D1-3F3B-4EA0-A080-D6455B5E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2" name="celltext-1-0">
            <a:extLst xmlns:a="http://schemas.openxmlformats.org/drawingml/2006/main">
              <a:ext uri="{FF2B5EF4-FFF2-40B4-BE49-F238E27FC236}">
                <a16:creationId xmlns:a16="http://schemas.microsoft.com/office/drawing/2014/main" id="{D2D4A952-876B-43FE-856B-9CDE3D84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API consumerを維持</a:t>
            </a:r>
          </a:p>
        </p:txBody>
      </p:sp>
      <p:sp>
        <p:nvSpPr>
          <p:cNvPr id="23" name="cell-1-1">
            <a:extLst xmlns:a="http://schemas.openxmlformats.org/drawingml/2006/main">
              <a:ext uri="{FF2B5EF4-FFF2-40B4-BE49-F238E27FC236}">
                <a16:creationId xmlns:a16="http://schemas.microsoft.com/office/drawing/2014/main" id="{219C99C7-4320-426D-A80B-EC3F3967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7665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4" name="celltext-1-1">
            <a:extLst xmlns:a="http://schemas.openxmlformats.org/drawingml/2006/main">
              <a:ext uri="{FF2B5EF4-FFF2-40B4-BE49-F238E27FC236}">
                <a16:creationId xmlns:a16="http://schemas.microsoft.com/office/drawing/2014/main" id="{63891BF8-DE4A-4571-BE09-185E6968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385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既存consumerあり</a:t>
            </a:r>
          </a:p>
        </p:txBody>
      </p:sp>
      <p:sp>
        <p:nvSpPr>
          <p:cNvPr id="25" name="cell-1-2">
            <a:extLst xmlns:a="http://schemas.openxmlformats.org/drawingml/2006/main">
              <a:ext uri="{FF2B5EF4-FFF2-40B4-BE49-F238E27FC236}">
                <a16:creationId xmlns:a16="http://schemas.microsoft.com/office/drawing/2014/main" id="{0DBF4048-FDC3-4540-8A3F-464FC2C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7665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6" name="celltext-1-2">
            <a:extLst xmlns:a="http://schemas.openxmlformats.org/drawingml/2006/main">
              <a:ext uri="{FF2B5EF4-FFF2-40B4-BE49-F238E27FC236}">
                <a16:creationId xmlns:a16="http://schemas.microsoft.com/office/drawing/2014/main" id="{39EB4922-661D-4A78-8935-9379ACB6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385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UIだけ変更</a:t>
            </a:r>
          </a:p>
        </p:txBody>
      </p:sp>
      <p:sp>
        <p:nvSpPr>
          <p:cNvPr id="27" name="cell-1-3">
            <a:extLst xmlns:a="http://schemas.openxmlformats.org/drawingml/2006/main">
              <a:ext uri="{FF2B5EF4-FFF2-40B4-BE49-F238E27FC236}">
                <a16:creationId xmlns:a16="http://schemas.microsoft.com/office/drawing/2014/main" id="{14C68B3F-23B5-4E3D-B0F0-8267B939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7665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8" name="celltext-1-3">
            <a:extLst xmlns:a="http://schemas.openxmlformats.org/drawingml/2006/main">
              <a:ext uri="{FF2B5EF4-FFF2-40B4-BE49-F238E27FC236}">
                <a16:creationId xmlns:a16="http://schemas.microsoft.com/office/drawing/2014/main" id="{3D3A78A3-48D0-4656-ACA9-2D4D9C7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385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守る条件</a:t>
            </a:r>
          </a:p>
        </p:txBody>
      </p:sp>
      <p:sp>
        <p:nvSpPr>
          <p:cNvPr id="29" name="cell-2-0">
            <a:extLst xmlns:a="http://schemas.openxmlformats.org/drawingml/2006/main">
              <a:ext uri="{FF2B5EF4-FFF2-40B4-BE49-F238E27FC236}">
                <a16:creationId xmlns:a16="http://schemas.microsoft.com/office/drawing/2014/main" id="{89989E97-8875-40FD-AE62-AD910F61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0" name="celltext-2-0">
            <a:extLst xmlns:a="http://schemas.openxmlformats.org/drawingml/2006/main">
              <a:ext uri="{FF2B5EF4-FFF2-40B4-BE49-F238E27FC236}">
                <a16:creationId xmlns:a16="http://schemas.microsoft.com/office/drawing/2014/main" id="{23435ACE-6BB3-45B9-81DB-F6F4D066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未知コード</a:t>
            </a:r>
          </a:p>
        </p:txBody>
      </p:sp>
      <p:sp>
        <p:nvSpPr>
          <p:cNvPr id="31" name="cell-2-1">
            <a:extLst xmlns:a="http://schemas.openxmlformats.org/drawingml/2006/main">
              <a:ext uri="{FF2B5EF4-FFF2-40B4-BE49-F238E27FC236}">
                <a16:creationId xmlns:a16="http://schemas.microsoft.com/office/drawing/2014/main" id="{46ADA01E-2A3C-4E80-8F1A-BC14E237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0530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2" name="celltext-2-1">
            <a:extLst xmlns:a="http://schemas.openxmlformats.org/drawingml/2006/main">
              <a:ext uri="{FF2B5EF4-FFF2-40B4-BE49-F238E27FC236}">
                <a16:creationId xmlns:a16="http://schemas.microsoft.com/office/drawing/2014/main" id="{74E65597-3ECF-4AAE-9C9A-0C365A56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6722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仕様なし</a:t>
            </a:r>
          </a:p>
        </p:txBody>
      </p:sp>
      <p:sp>
        <p:nvSpPr>
          <p:cNvPr id="33" name="cell-2-2">
            <a:extLst xmlns:a="http://schemas.openxmlformats.org/drawingml/2006/main">
              <a:ext uri="{FF2B5EF4-FFF2-40B4-BE49-F238E27FC236}">
                <a16:creationId xmlns:a16="http://schemas.microsoft.com/office/drawing/2014/main" id="{9377FA83-928C-4021-91B8-57866F31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0530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4" name="celltext-2-2">
            <a:extLst xmlns:a="http://schemas.openxmlformats.org/drawingml/2006/main">
              <a:ext uri="{FF2B5EF4-FFF2-40B4-BE49-F238E27FC236}">
                <a16:creationId xmlns:a16="http://schemas.microsoft.com/office/drawing/2014/main" id="{0F1CC5C6-755B-440D-BC1A-5198786B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6722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不明を表示?</a:t>
            </a:r>
          </a:p>
        </p:txBody>
      </p:sp>
      <p:sp>
        <p:nvSpPr>
          <p:cNvPr id="35" name="cell-2-3">
            <a:extLst xmlns:a="http://schemas.openxmlformats.org/drawingml/2006/main">
              <a:ext uri="{FF2B5EF4-FFF2-40B4-BE49-F238E27FC236}">
                <a16:creationId xmlns:a16="http://schemas.microsoft.com/office/drawing/2014/main" id="{803D3418-E885-4EEF-9168-783B5D16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0530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36" name="celltext-2-3">
            <a:extLst xmlns:a="http://schemas.openxmlformats.org/drawingml/2006/main">
              <a:ext uri="{FF2B5EF4-FFF2-40B4-BE49-F238E27FC236}">
                <a16:creationId xmlns:a16="http://schemas.microsoft.com/office/drawing/2014/main" id="{F6A9D3B6-41B9-4BA5-8E0F-27E8A9CF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6722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9B00"/>
                </a:solidFill>
              </a:defRPr>
            </a:pPr>
            <a:r>
              <a:rPr sz="1350" b="1">
                <a:solidFill>
                  <a:srgbClr val="D99B00"/>
                </a:solidFill>
              </a:rPr>
              <a:t>人間が判断</a:t>
            </a:r>
          </a:p>
        </p:txBody>
      </p:sp>
      <p:sp>
        <p:nvSpPr>
          <p:cNvPr id="37" name="design-judgement">
            <a:extLst xmlns:a="http://schemas.openxmlformats.org/drawingml/2006/main">
              <a:ext uri="{FF2B5EF4-FFF2-40B4-BE49-F238E27FC236}">
                <a16:creationId xmlns:a16="http://schemas.microsoft.com/office/drawing/2014/main" id="{41DCCABE-9A43-45E8-843B-7044D3E0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8" name="design-judgement-text">
            <a:extLst xmlns:a="http://schemas.openxmlformats.org/drawingml/2006/main">
              <a:ext uri="{FF2B5EF4-FFF2-40B4-BE49-F238E27FC236}">
                <a16:creationId xmlns:a16="http://schemas.microsoft.com/office/drawing/2014/main" id="{3C6836A9-0EE5-4DC6-86C3-A501E260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292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差分承認後に詳細化：作業単位・データ・互換性・テスト・証拠・担当者</a:t>
            </a:r>
          </a:p>
        </p:txBody>
      </p:sp>
      <p:sp>
        <p:nvSpPr>
          <p:cNvPr id="3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28BBBA1-4CB5-45E2-BECE-495AA0A5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0" name="footer">
            <a:extLst xmlns:a="http://schemas.openxmlformats.org/drawingml/2006/main">
              <a:ext uri="{FF2B5EF4-FFF2-40B4-BE49-F238E27FC236}">
                <a16:creationId xmlns:a16="http://schemas.microsoft.com/office/drawing/2014/main" id="{354958F5-70EB-414A-B0D9-881E9D9E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How to use</a:t>
            </a:r>
          </a:p>
        </p:txBody>
      </p:sp>
      <p:sp>
        <p:nvSpPr>
          <p:cNvPr id="41" name="page">
            <a:extLst xmlns:a="http://schemas.openxmlformats.org/drawingml/2006/main">
              <a:ext uri="{FF2B5EF4-FFF2-40B4-BE49-F238E27FC236}">
                <a16:creationId xmlns:a16="http://schemas.microsoft.com/office/drawing/2014/main" id="{863A7801-D201-4ACD-BB52-2F7CC67D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25731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1F16286D-859F-44FC-87F5-CD2DCA5A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設計終了時の確認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5CC379FD-5638-40E7-8BA7-0E5845FE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設計終了時に、テストケースを作れるか確認する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CF925CA7-1B4E-4CF1-844E-9AE0883D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入力、期待値、証拠、合否基準が不足していれば、設計を完了としません。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7BC925E-FB8E-4013-B534-02159182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gate-check">
            <a:extLst xmlns:a="http://schemas.openxmlformats.org/drawingml/2006/main">
              <a:ext uri="{FF2B5EF4-FFF2-40B4-BE49-F238E27FC236}">
                <a16:creationId xmlns:a16="http://schemas.microsoft.com/office/drawing/2014/main" id="{7D98A8A4-82CB-4B63-968A-DB145EBB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7625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6" name="gate-check-title">
            <a:extLst xmlns:a="http://schemas.openxmlformats.org/drawingml/2006/main">
              <a:ext uri="{FF2B5EF4-FFF2-40B4-BE49-F238E27FC236}">
                <a16:creationId xmlns:a16="http://schemas.microsoft.com/office/drawing/2014/main" id="{60C5C2EE-A721-41DB-A8A1-A1335CC6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AIが確認する</a:t>
            </a:r>
          </a:p>
        </p:txBody>
      </p:sp>
      <p:sp>
        <p:nvSpPr>
          <p:cNvPr id="7" name="gate-check-list">
            <a:extLst xmlns:a="http://schemas.openxmlformats.org/drawingml/2006/main">
              <a:ext uri="{FF2B5EF4-FFF2-40B4-BE49-F238E27FC236}">
                <a16:creationId xmlns:a16="http://schemas.microsoft.com/office/drawing/2014/main" id="{5614C238-4174-436B-B857-760A56BF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3810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対象・目的・前提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入力データ・テストデータ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期待値と根拠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観測方法・証拠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合否判定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追跡関係</a:t>
            </a:r>
          </a:p>
        </p:txBody>
      </p:sp>
      <p:sp>
        <p:nvSpPr>
          <p:cNvPr id="8" name="gate-result">
            <a:extLst xmlns:a="http://schemas.openxmlformats.org/drawingml/2006/main">
              <a:ext uri="{FF2B5EF4-FFF2-40B4-BE49-F238E27FC236}">
                <a16:creationId xmlns:a16="http://schemas.microsoft.com/office/drawing/2014/main" id="{BF6BD35B-E7F3-45B9-9D1E-73CA681F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53149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gate-result-title">
            <a:extLst xmlns:a="http://schemas.openxmlformats.org/drawingml/2006/main">
              <a:ext uri="{FF2B5EF4-FFF2-40B4-BE49-F238E27FC236}">
                <a16:creationId xmlns:a16="http://schemas.microsoft.com/office/drawing/2014/main" id="{E48D4CDB-72BC-40BF-AA2B-1DE2B061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設計終了時の確認結果</a:t>
            </a:r>
          </a:p>
        </p:txBody>
      </p:sp>
      <p:sp>
        <p:nvSpPr>
          <p:cNvPr id="10" name="gate-result-status">
            <a:extLst xmlns:a="http://schemas.openxmlformats.org/drawingml/2006/main">
              <a:ext uri="{FF2B5EF4-FFF2-40B4-BE49-F238E27FC236}">
                <a16:creationId xmlns:a16="http://schemas.microsoft.com/office/drawing/2014/main" id="{E77DFD96-D2ED-4B78-924D-E939F11E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290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53B45"/>
                </a:solidFill>
              </a:defRPr>
            </a:pPr>
            <a:r>
              <a:rPr sz="2025" b="1">
                <a:solidFill>
                  <a:srgbClr val="C53B45"/>
                </a:solidFill>
              </a:rPr>
              <a:t>ケース作成：可能 / 保留</a:t>
            </a:r>
          </a:p>
        </p:txBody>
      </p:sp>
      <p:sp>
        <p:nvSpPr>
          <p:cNvPr id="11" name="gate-result-list">
            <a:extLst xmlns:a="http://schemas.openxmlformats.org/drawingml/2006/main">
              <a:ext uri="{FF2B5EF4-FFF2-40B4-BE49-F238E27FC236}">
                <a16:creationId xmlns:a16="http://schemas.microsoft.com/office/drawing/2014/main" id="{1ADD060A-7FAF-4E7B-B1F5-EB44A23E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不足している定義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下流への影響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確認事項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解決する担当者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次の引き継ぎ条件</a:t>
            </a:r>
          </a:p>
        </p:txBody>
      </p:sp>
      <p:sp>
        <p:nvSpPr>
          <p:cNvPr id="12" name="gate-ipa">
            <a:extLst xmlns:a="http://schemas.openxmlformats.org/drawingml/2006/main">
              <a:ext uri="{FF2B5EF4-FFF2-40B4-BE49-F238E27FC236}">
                <a16:creationId xmlns:a16="http://schemas.microsoft.com/office/drawing/2014/main" id="{C2E1BBCB-35C1-4E19-A93F-10BBB2AE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1B8A5A"/>
            </a:solidFill>
            <a:prstDash val="solid"/>
          </a:ln>
        </p:spPr>
      </p:sp>
      <p:sp>
        <p:nvSpPr>
          <p:cNvPr id="13" name="gate-ipa-text">
            <a:extLst xmlns:a="http://schemas.openxmlformats.org/drawingml/2006/main">
              <a:ext uri="{FF2B5EF4-FFF2-40B4-BE49-F238E27FC236}">
                <a16:creationId xmlns:a16="http://schemas.microsoft.com/office/drawing/2014/main" id="{4CC34FE6-8FD9-4825-AD15-CA89BF6D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38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8A5A"/>
                </a:solidFill>
              </a:defRPr>
            </a:pPr>
            <a:r>
              <a:rPr sz="1350" b="1">
                <a:solidFill>
                  <a:srgbClr val="1B8A5A"/>
                </a:solidFill>
              </a:rPr>
              <a:t>IPA観点：上流でリスクと対策を明らかにし、合意してから計画・テストへ進む</a:t>
            </a:r>
          </a:p>
        </p:txBody>
      </p:sp>
      <p:sp>
        <p:nvSpPr>
          <p:cNvPr id="14" name="gate-human">
            <a:extLst xmlns:a="http://schemas.openxmlformats.org/drawingml/2006/main">
              <a:ext uri="{FF2B5EF4-FFF2-40B4-BE49-F238E27FC236}">
                <a16:creationId xmlns:a16="http://schemas.microsoft.com/office/drawing/2014/main" id="{4236CDC8-F29E-4689-AC11-C2DED819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007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人間の判断：設計を完了するか、不足を補うか、保留するか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9926AFD-65E6-4B75-AE81-F7497F65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127ACF2A-ADAD-4033-BA01-828B1CD4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How to use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F75F344D-9FF5-4047-957E-2987EEC6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38436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847C9A-DD83-4709-89DC-813F89A2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テスト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F685E64-38B3-4EDF-B2CA-EAAF95F7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AIがテスト作業を実行し、証拠付きで結果を評価する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DB3401DD-E640-4B7F-8935-C33EE09D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人間が範囲と期待値を承認し、AIはUI操作から項目別・総合評価まで行います。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0DF38D1-44FD-4978-9C22-3458A5B3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test-output">
            <a:extLst xmlns:a="http://schemas.openxmlformats.org/drawingml/2006/main">
              <a:ext uri="{FF2B5EF4-FFF2-40B4-BE49-F238E27FC236}">
                <a16:creationId xmlns:a16="http://schemas.microsoft.com/office/drawing/2014/main" id="{B6F432BE-C5B6-4A83-98DA-E4DDB4C9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6000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6" name="test-output-title">
            <a:extLst xmlns:a="http://schemas.openxmlformats.org/drawingml/2006/main">
              <a:ext uri="{FF2B5EF4-FFF2-40B4-BE49-F238E27FC236}">
                <a16:creationId xmlns:a16="http://schemas.microsoft.com/office/drawing/2014/main" id="{5316A962-3EF1-47E2-B580-128D6902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AIが行う作業</a:t>
            </a:r>
          </a:p>
        </p:txBody>
      </p:sp>
      <p:sp>
        <p:nvSpPr>
          <p:cNvPr id="7" name="test-output-list">
            <a:extLst xmlns:a="http://schemas.openxmlformats.org/drawingml/2006/main">
              <a:ext uri="{FF2B5EF4-FFF2-40B4-BE49-F238E27FC236}">
                <a16:creationId xmlns:a16="http://schemas.microsoft.com/office/drawing/2014/main" id="{E11AB1DB-C390-4A04-8F03-80A371EC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承認済みケースを実行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UIを操作し画面を取得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期待値と実結果を比較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項目ごとの結果を評価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画面全体を総合評価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差異を分類し再テスト</a:t>
            </a:r>
          </a:p>
        </p:txBody>
      </p:sp>
      <p:sp>
        <p:nvSpPr>
          <p:cNvPr id="8" name="test-human">
            <a:extLst xmlns:a="http://schemas.openxmlformats.org/drawingml/2006/main">
              <a:ext uri="{FF2B5EF4-FFF2-40B4-BE49-F238E27FC236}">
                <a16:creationId xmlns:a16="http://schemas.microsoft.com/office/drawing/2014/main" id="{6308246C-C0EC-4EFA-B0D9-126C12B3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14600"/>
            <a:ext cx="42672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9" name="test-human-title">
            <a:extLst xmlns:a="http://schemas.openxmlformats.org/drawingml/2006/main">
              <a:ext uri="{FF2B5EF4-FFF2-40B4-BE49-F238E27FC236}">
                <a16:creationId xmlns:a16="http://schemas.microsoft.com/office/drawing/2014/main" id="{4A4614AB-9566-4516-8E81-3D3EB6C0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384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9B00"/>
                </a:solidFill>
              </a:defRPr>
            </a:pPr>
            <a:r>
              <a:rPr sz="2025" b="1">
                <a:solidFill>
                  <a:srgbClr val="D99B00"/>
                </a:solidFill>
              </a:rPr>
              <a:t>人間が判断すること</a:t>
            </a:r>
          </a:p>
        </p:txBody>
      </p:sp>
      <p:sp>
        <p:nvSpPr>
          <p:cNvPr id="10" name="test-human-list">
            <a:extLst xmlns:a="http://schemas.openxmlformats.org/drawingml/2006/main">
              <a:ext uri="{FF2B5EF4-FFF2-40B4-BE49-F238E27FC236}">
                <a16:creationId xmlns:a16="http://schemas.microsoft.com/office/drawing/2014/main" id="{3C076BC9-9F0B-4E11-8D33-FE03B56C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テスト範囲と期待値を承認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評価基準の意味は妥当か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説明できない差異をどう扱うか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残余リスクを受け入れるか</a:t>
            </a:r>
          </a:p>
        </p:txBody>
      </p:sp>
      <p:sp>
        <p:nvSpPr>
          <p:cNvPr id="11" name="test-flow">
            <a:extLst xmlns:a="http://schemas.openxmlformats.org/drawingml/2006/main">
              <a:ext uri="{FF2B5EF4-FFF2-40B4-BE49-F238E27FC236}">
                <a16:creationId xmlns:a16="http://schemas.microsoft.com/office/drawing/2014/main" id="{FA792857-CF57-4BB9-AE7A-CCCC1B26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86450"/>
            <a:ext cx="914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test-flow-text">
            <a:extLst xmlns:a="http://schemas.openxmlformats.org/drawingml/2006/main">
              <a:ext uri="{FF2B5EF4-FFF2-40B4-BE49-F238E27FC236}">
                <a16:creationId xmlns:a16="http://schemas.microsoft.com/office/drawing/2014/main" id="{4D98D5EF-17ED-4ABA-AE88-D7A34EF8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53125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画面のハードコピー → 期待値・実結果 → 項目別評価 → 総合評価 → 残余リスク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609C8D0-DCB5-41EA-B662-C1EE7595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4FA515A3-986D-49FD-9DC8-59566984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How to use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D7EA27C0-3B17-4115-9DD7-CBEA5EAA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2611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4E5F6E29-D31A-466C-8282-EC7AFBB3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判断のルール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D36876CD-C1D3-4A1B-A4CD-332DB06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人間は、AIの提案をこの順に確認する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84D28FD6-D111-472D-98A9-ACA0094D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最初に根拠の有無、次に意味、最後にリスクを確認します。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C1E1C06-7D6E-48F5-A2B9-99F862DC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rule-0">
            <a:extLst xmlns:a="http://schemas.openxmlformats.org/drawingml/2006/main">
              <a:ext uri="{FF2B5EF4-FFF2-40B4-BE49-F238E27FC236}">
                <a16:creationId xmlns:a16="http://schemas.microsoft.com/office/drawing/2014/main" id="{8EFB5A88-BDB4-4C9A-89F0-3576B1A2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10058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rule-num-0">
            <a:extLst xmlns:a="http://schemas.openxmlformats.org/drawingml/2006/main">
              <a:ext uri="{FF2B5EF4-FFF2-40B4-BE49-F238E27FC236}">
                <a16:creationId xmlns:a16="http://schemas.microsoft.com/office/drawing/2014/main" id="{5BD13789-05E5-4598-8CEB-AA502894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rule-n-0">
            <a:extLst xmlns:a="http://schemas.openxmlformats.org/drawingml/2006/main">
              <a:ext uri="{FF2B5EF4-FFF2-40B4-BE49-F238E27FC236}">
                <a16:creationId xmlns:a16="http://schemas.microsoft.com/office/drawing/2014/main" id="{7859B7B5-1A42-44B8-9E26-F4ACC963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ule-h-0">
            <a:extLst xmlns:a="http://schemas.openxmlformats.org/drawingml/2006/main">
              <a:ext uri="{FF2B5EF4-FFF2-40B4-BE49-F238E27FC236}">
                <a16:creationId xmlns:a16="http://schemas.microsoft.com/office/drawing/2014/main" id="{A521B99B-2BBA-4246-B121-119D31E4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根拠があるか</a:t>
            </a:r>
          </a:p>
        </p:txBody>
      </p:sp>
      <p:sp>
        <p:nvSpPr>
          <p:cNvPr id="9" name="rule-b-0">
            <a:extLst xmlns:a="http://schemas.openxmlformats.org/drawingml/2006/main">
              <a:ext uri="{FF2B5EF4-FFF2-40B4-BE49-F238E27FC236}">
                <a16:creationId xmlns:a16="http://schemas.microsoft.com/office/drawing/2014/main" id="{6B00F0D9-9168-4A52-8120-590350B6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28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根拠が対象・結果・判断に結び付いているか</a:t>
            </a:r>
          </a:p>
        </p:txBody>
      </p:sp>
      <p:sp>
        <p:nvSpPr>
          <p:cNvPr id="10" name="rule-1">
            <a:extLst xmlns:a="http://schemas.openxmlformats.org/drawingml/2006/main">
              <a:ext uri="{FF2B5EF4-FFF2-40B4-BE49-F238E27FC236}">
                <a16:creationId xmlns:a16="http://schemas.microsoft.com/office/drawing/2014/main" id="{A166DBB0-64EF-4683-B4B1-F40CE632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10058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rule-num-1">
            <a:extLst xmlns:a="http://schemas.openxmlformats.org/drawingml/2006/main">
              <a:ext uri="{FF2B5EF4-FFF2-40B4-BE49-F238E27FC236}">
                <a16:creationId xmlns:a16="http://schemas.microsoft.com/office/drawing/2014/main" id="{0D303B24-9D65-49D3-9E56-5252BBEB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rule-n-1">
            <a:extLst xmlns:a="http://schemas.openxmlformats.org/drawingml/2006/main">
              <a:ext uri="{FF2B5EF4-FFF2-40B4-BE49-F238E27FC236}">
                <a16:creationId xmlns:a16="http://schemas.microsoft.com/office/drawing/2014/main" id="{90E537FA-BD47-4C0C-ABA8-8CF62C96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ule-h-1">
            <a:extLst xmlns:a="http://schemas.openxmlformats.org/drawingml/2006/main">
              <a:ext uri="{FF2B5EF4-FFF2-40B4-BE49-F238E27FC236}">
                <a16:creationId xmlns:a16="http://schemas.microsoft.com/office/drawing/2014/main" id="{3BA35B97-1EC0-4618-9BAD-E929A46D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90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定義されているか</a:t>
            </a:r>
          </a:p>
        </p:txBody>
      </p:sp>
      <p:sp>
        <p:nvSpPr>
          <p:cNvPr id="14" name="rule-b-1">
            <a:extLst xmlns:a="http://schemas.openxmlformats.org/drawingml/2006/main">
              <a:ext uri="{FF2B5EF4-FFF2-40B4-BE49-F238E27FC236}">
                <a16:creationId xmlns:a16="http://schemas.microsoft.com/office/drawing/2014/main" id="{479EBB74-F672-4DB1-BD4D-7D881D2A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99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期待値・判定基準・担当者・次の行動があるか</a:t>
            </a:r>
          </a:p>
        </p:txBody>
      </p:sp>
      <p:sp>
        <p:nvSpPr>
          <p:cNvPr id="15" name="rule-2">
            <a:extLst xmlns:a="http://schemas.openxmlformats.org/drawingml/2006/main">
              <a:ext uri="{FF2B5EF4-FFF2-40B4-BE49-F238E27FC236}">
                <a16:creationId xmlns:a16="http://schemas.microsoft.com/office/drawing/2014/main" id="{0813C602-6E3E-45AE-A7A4-DD7083FB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10058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rule-num-2">
            <a:extLst xmlns:a="http://schemas.openxmlformats.org/drawingml/2006/main">
              <a:ext uri="{FF2B5EF4-FFF2-40B4-BE49-F238E27FC236}">
                <a16:creationId xmlns:a16="http://schemas.microsoft.com/office/drawing/2014/main" id="{3FE90EA8-DCDA-490F-A904-637C2DD0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rule-n-2">
            <a:extLst xmlns:a="http://schemas.openxmlformats.org/drawingml/2006/main">
              <a:ext uri="{FF2B5EF4-FFF2-40B4-BE49-F238E27FC236}">
                <a16:creationId xmlns:a16="http://schemas.microsoft.com/office/drawing/2014/main" id="{5A27257D-9D6B-4C5A-8B04-006FE8F1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1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ule-h-2">
            <a:extLst xmlns:a="http://schemas.openxmlformats.org/drawingml/2006/main">
              <a:ext uri="{FF2B5EF4-FFF2-40B4-BE49-F238E27FC236}">
                <a16:creationId xmlns:a16="http://schemas.microsoft.com/office/drawing/2014/main" id="{421DC219-D716-4CB3-9C07-7FF21D3E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71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整合しているか</a:t>
            </a:r>
          </a:p>
        </p:txBody>
      </p:sp>
      <p:sp>
        <p:nvSpPr>
          <p:cNvPr id="19" name="rule-b-2">
            <a:extLst xmlns:a="http://schemas.openxmlformats.org/drawingml/2006/main">
              <a:ext uri="{FF2B5EF4-FFF2-40B4-BE49-F238E27FC236}">
                <a16:creationId xmlns:a16="http://schemas.microsoft.com/office/drawing/2014/main" id="{68EA019D-824A-4AE0-9F17-797BA539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9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現行仕様・現行挙動・新規要求・設計がつながるか</a:t>
            </a:r>
          </a:p>
        </p:txBody>
      </p:sp>
      <p:sp>
        <p:nvSpPr>
          <p:cNvPr id="20" name="rule-3">
            <a:extLst xmlns:a="http://schemas.openxmlformats.org/drawingml/2006/main">
              <a:ext uri="{FF2B5EF4-FFF2-40B4-BE49-F238E27FC236}">
                <a16:creationId xmlns:a16="http://schemas.microsoft.com/office/drawing/2014/main" id="{022BF61D-8AA2-44E8-B2FC-D67343BA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10058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21" name="rule-num-3">
            <a:extLst xmlns:a="http://schemas.openxmlformats.org/drawingml/2006/main">
              <a:ext uri="{FF2B5EF4-FFF2-40B4-BE49-F238E27FC236}">
                <a16:creationId xmlns:a16="http://schemas.microsoft.com/office/drawing/2014/main" id="{5D90FE8B-A748-488A-87CE-D2188428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149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9B00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22" name="rule-n-3">
            <a:extLst xmlns:a="http://schemas.openxmlformats.org/drawingml/2006/main">
              <a:ext uri="{FF2B5EF4-FFF2-40B4-BE49-F238E27FC236}">
                <a16:creationId xmlns:a16="http://schemas.microsoft.com/office/drawing/2014/main" id="{AE7F34AE-2B9D-4753-A6EA-DEBD884F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91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ule-h-3">
            <a:extLst xmlns:a="http://schemas.openxmlformats.org/drawingml/2006/main">
              <a:ext uri="{FF2B5EF4-FFF2-40B4-BE49-F238E27FC236}">
                <a16:creationId xmlns:a16="http://schemas.microsoft.com/office/drawing/2014/main" id="{B3D430DD-3450-46E3-B53A-4882FE17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9B00"/>
                </a:solidFill>
              </a:defRPr>
            </a:pPr>
            <a:r>
              <a:rPr sz="1650" b="1">
                <a:solidFill>
                  <a:srgbClr val="D99B00"/>
                </a:solidFill>
              </a:rPr>
              <a:t>リスクを受け入れるか</a:t>
            </a:r>
          </a:p>
        </p:txBody>
      </p:sp>
      <p:sp>
        <p:nvSpPr>
          <p:cNvPr id="24" name="rule-b-3">
            <a:extLst xmlns:a="http://schemas.openxmlformats.org/drawingml/2006/main">
              <a:ext uri="{FF2B5EF4-FFF2-40B4-BE49-F238E27FC236}">
                <a16:creationId xmlns:a16="http://schemas.microsoft.com/office/drawing/2014/main" id="{E8B2AEC8-4ED0-46A8-B21E-3E3A62A1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7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不明点、差異、未実行、残余リスクを受け入れられるか</a:t>
            </a:r>
          </a:p>
        </p:txBody>
      </p:sp>
      <p:sp>
        <p:nvSpPr>
          <p:cNvPr id="25" name="rules-bottom">
            <a:extLst xmlns:a="http://schemas.openxmlformats.org/drawingml/2006/main">
              <a:ext uri="{FF2B5EF4-FFF2-40B4-BE49-F238E27FC236}">
                <a16:creationId xmlns:a16="http://schemas.microsoft.com/office/drawing/2014/main" id="{E8E53C00-D96D-4C2E-86B8-9D52F837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53B45"/>
                </a:solidFill>
              </a:defRPr>
            </a:pPr>
            <a:r>
              <a:rPr sz="1500" b="1">
                <a:solidFill>
                  <a:srgbClr val="C53B45"/>
                </a:solidFill>
              </a:rPr>
              <a:t>4つのどこかで止まったら、次の段階へ進めず、差し戻し・保留・エスカレーションにする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A0871F5-F2D8-4BCE-92A9-28BD8B7F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F9E2739E-E29C-4D52-92C8-4AACDC13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How to use</a:t>
            </a:r>
          </a:p>
        </p:txBody>
      </p:sp>
      <p:sp>
        <p:nvSpPr>
          <p:cNvPr id="28" name="page">
            <a:extLst xmlns:a="http://schemas.openxmlformats.org/drawingml/2006/main">
              <a:ext uri="{FF2B5EF4-FFF2-40B4-BE49-F238E27FC236}">
                <a16:creationId xmlns:a16="http://schemas.microsoft.com/office/drawing/2014/main" id="{04FB7378-4955-4C0D-9FA7-CA9D639B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27604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87CC0D79-93B4-4E83-8C17-3C841EFA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例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F7D27E7E-866E-4939-B506-0F1537C3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一つの依頼を、判断まで進める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2371C5E8-AC8E-43A1-8E29-FC860C7E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設計段階でUIラベルを変更する場合の、依頼とAIの回答例です。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2D32FD8-8BAF-4A90-B60C-76A2EF12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example-request">
            <a:extLst xmlns:a="http://schemas.openxmlformats.org/drawingml/2006/main">
              <a:ext uri="{FF2B5EF4-FFF2-40B4-BE49-F238E27FC236}">
                <a16:creationId xmlns:a16="http://schemas.microsoft.com/office/drawing/2014/main" id="{4163016C-EFEF-4163-8AFB-0682338A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048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example-request-title">
            <a:extLst xmlns:a="http://schemas.openxmlformats.org/drawingml/2006/main">
              <a:ext uri="{FF2B5EF4-FFF2-40B4-BE49-F238E27FC236}">
                <a16:creationId xmlns:a16="http://schemas.microsoft.com/office/drawing/2014/main" id="{73A1795B-C7ED-4FC9-B7C0-2A9D5C6D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DCBF4"/>
                </a:solidFill>
              </a:defRPr>
            </a:pPr>
            <a:r>
              <a:rPr sz="1875" b="1">
                <a:solidFill>
                  <a:srgbClr val="6DCBF4"/>
                </a:solidFill>
              </a:rPr>
              <a:t>人間の依頼</a:t>
            </a:r>
          </a:p>
        </p:txBody>
      </p:sp>
      <p:sp>
        <p:nvSpPr>
          <p:cNvPr id="7" name="example-request-body">
            <a:extLst xmlns:a="http://schemas.openxmlformats.org/drawingml/2006/main">
              <a:ext uri="{FF2B5EF4-FFF2-40B4-BE49-F238E27FC236}">
                <a16:creationId xmlns:a16="http://schemas.microsoft.com/office/drawing/2014/main" id="{19E92A16-E749-40E2-955B-B36704EB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Skill: $brownfield-workflow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要求: REQ-042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対象: order status UI / API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変更: code 1のラベル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制約: 下流APIの互換性を維持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出力: 差分整理表 + テスト引き継ぎ</a:t>
            </a:r>
          </a:p>
        </p:txBody>
      </p:sp>
      <p:sp>
        <p:nvSpPr>
          <p:cNvPr id="8" name="example-arrow">
            <a:extLst xmlns:a="http://schemas.openxmlformats.org/drawingml/2006/main">
              <a:ext uri="{FF2B5EF4-FFF2-40B4-BE49-F238E27FC236}">
                <a16:creationId xmlns:a16="http://schemas.microsoft.com/office/drawing/2014/main" id="{A7C58480-5F2C-44FE-92DC-D6976A1E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33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9" name="example-result">
            <a:extLst xmlns:a="http://schemas.openxmlformats.org/drawingml/2006/main">
              <a:ext uri="{FF2B5EF4-FFF2-40B4-BE49-F238E27FC236}">
                <a16:creationId xmlns:a16="http://schemas.microsoft.com/office/drawing/2014/main" id="{43E69E0A-8E0F-494D-A8F7-6A1B1992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14600"/>
            <a:ext cx="4857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example-result-title">
            <a:extLst xmlns:a="http://schemas.openxmlformats.org/drawingml/2006/main">
              <a:ext uri="{FF2B5EF4-FFF2-40B4-BE49-F238E27FC236}">
                <a16:creationId xmlns:a16="http://schemas.microsoft.com/office/drawing/2014/main" id="{918DE8DA-A07D-4AEC-ADBD-A5BD8569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384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AIの回答</a:t>
            </a:r>
          </a:p>
        </p:txBody>
      </p:sp>
      <p:sp>
        <p:nvSpPr>
          <p:cNvPr id="11" name="example-result-list">
            <a:extLst xmlns:a="http://schemas.openxmlformats.org/drawingml/2006/main">
              <a:ext uri="{FF2B5EF4-FFF2-40B4-BE49-F238E27FC236}">
                <a16:creationId xmlns:a16="http://schemas.microsoft.com/office/drawing/2014/main" id="{0B510C28-F86C-433E-BE06-33C555B9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2900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現行仕様とUI挙動の差異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UIだけ変更 / APIは保護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未知コードの表示は未定義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テスト1件は保留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人間の判断が必要</a:t>
            </a:r>
          </a:p>
        </p:txBody>
      </p:sp>
      <p:sp>
        <p:nvSpPr>
          <p:cNvPr id="12" name="example-decision">
            <a:extLst xmlns:a="http://schemas.openxmlformats.org/drawingml/2006/main">
              <a:ext uri="{FF2B5EF4-FFF2-40B4-BE49-F238E27FC236}">
                <a16:creationId xmlns:a16="http://schemas.microsoft.com/office/drawing/2014/main" id="{04665FBA-CDB3-4923-8432-767EADC2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10250"/>
            <a:ext cx="9029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99B00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13" name="example-decision-text">
            <a:extLst xmlns:a="http://schemas.openxmlformats.org/drawingml/2006/main">
              <a:ext uri="{FF2B5EF4-FFF2-40B4-BE49-F238E27FC236}">
                <a16:creationId xmlns:a16="http://schemas.microsoft.com/office/drawing/2014/main" id="{3260570E-D125-4FFA-8F2C-3ECDBA93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886450"/>
            <a:ext cx="845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人間：未知コードの表示仕様を承認 → AI：ケース生成・実行へ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8C7C481-4F10-4D49-9BD8-EF5189DB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15A56606-C648-463A-AED1-D8B759AE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How to use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CFA782C9-AAD1-426A-8F5C-9C583A47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0447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2026-08-15T15:42:27.9940000Z</dcterms:created>
  <dcterms:modified xsi:type="dcterms:W3CDTF">2026-08-15T15:42:27.9940000Z</dcterms:modified>
</coreProperties>
</file>